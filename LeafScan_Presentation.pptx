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371600"/>
            <a:ext cx="11247120" cy="1097280"/>
          </a:xfrm>
          <a:prstGeom prst="rect">
            <a:avLst/>
          </a:prstGeom>
          <a:noFill/>
        </p:spPr>
        <p:txBody>
          <a:bodyPr wrap="square">
            <a:spAutoFit/>
          </a:bodyPr>
          <a:lstStyle/>
          <a:p>
            <a:pPr algn="ctr"/>
            <a:r>
              <a:rPr sz="3000" b="1">
                <a:solidFill>
                  <a:srgbClr val="000000"/>
                </a:solidFill>
              </a:rPr>
              <a:t>LeafScan: A Deep Learning-Based Approach for</a:t>
            </a:r>
          </a:p>
        </p:txBody>
      </p:sp>
      <p:sp>
        <p:nvSpPr>
          <p:cNvPr id="3" name="TextBox 2"/>
          <p:cNvSpPr txBox="1"/>
          <p:nvPr/>
        </p:nvSpPr>
        <p:spPr>
          <a:xfrm>
            <a:off x="457200" y="2377440"/>
            <a:ext cx="11247120" cy="822960"/>
          </a:xfrm>
          <a:prstGeom prst="rect">
            <a:avLst/>
          </a:prstGeom>
          <a:noFill/>
        </p:spPr>
        <p:txBody>
          <a:bodyPr wrap="square">
            <a:spAutoFit/>
          </a:bodyPr>
          <a:lstStyle/>
          <a:p>
            <a:pPr algn="ctr"/>
            <a:r>
              <a:rPr sz="2800" b="1">
                <a:solidFill>
                  <a:srgbClr val="000000"/>
                </a:solidFill>
              </a:rPr>
              <a:t>Plant Leaf Disease Detection Using EfficientNetB3</a:t>
            </a:r>
          </a:p>
        </p:txBody>
      </p:sp>
      <p:sp>
        <p:nvSpPr>
          <p:cNvPr id="4" name="TextBox 3"/>
          <p:cNvSpPr txBox="1"/>
          <p:nvPr/>
        </p:nvSpPr>
        <p:spPr>
          <a:xfrm>
            <a:off x="457200" y="3383280"/>
            <a:ext cx="11247120" cy="365760"/>
          </a:xfrm>
          <a:prstGeom prst="rect">
            <a:avLst/>
          </a:prstGeom>
          <a:noFill/>
        </p:spPr>
        <p:txBody>
          <a:bodyPr wrap="square">
            <a:spAutoFit/>
          </a:bodyPr>
          <a:lstStyle/>
          <a:p>
            <a:pPr algn="ctr"/>
            <a:r>
              <a:rPr sz="1400" b="0">
                <a:solidFill>
                  <a:srgbClr val="000000"/>
                </a:solidFill>
              </a:rPr>
              <a:t>──────────────────────────────────────────────────────</a:t>
            </a:r>
          </a:p>
        </p:txBody>
      </p:sp>
      <p:sp>
        <p:nvSpPr>
          <p:cNvPr id="5" name="TextBox 4"/>
          <p:cNvSpPr txBox="1"/>
          <p:nvPr/>
        </p:nvSpPr>
        <p:spPr>
          <a:xfrm>
            <a:off x="457200" y="3840480"/>
            <a:ext cx="11247120" cy="411480"/>
          </a:xfrm>
          <a:prstGeom prst="rect">
            <a:avLst/>
          </a:prstGeom>
          <a:noFill/>
        </p:spPr>
        <p:txBody>
          <a:bodyPr wrap="square">
            <a:spAutoFit/>
          </a:bodyPr>
          <a:lstStyle/>
          <a:p>
            <a:pPr algn="ctr"/>
            <a:r>
              <a:rPr sz="1600" b="0">
                <a:solidFill>
                  <a:srgbClr val="000000"/>
                </a:solidFill>
              </a:rPr>
              <a:t>Guided By:  Dr. S. Kanithan,  Department of CSE (AI &amp; ML)</a:t>
            </a:r>
          </a:p>
        </p:txBody>
      </p:sp>
      <p:sp>
        <p:nvSpPr>
          <p:cNvPr id="6" name="TextBox 5"/>
          <p:cNvSpPr txBox="1"/>
          <p:nvPr/>
        </p:nvSpPr>
        <p:spPr>
          <a:xfrm>
            <a:off x="457200" y="4206240"/>
            <a:ext cx="11247120" cy="365760"/>
          </a:xfrm>
          <a:prstGeom prst="rect">
            <a:avLst/>
          </a:prstGeom>
          <a:noFill/>
        </p:spPr>
        <p:txBody>
          <a:bodyPr wrap="square">
            <a:spAutoFit/>
          </a:bodyPr>
          <a:lstStyle/>
          <a:p>
            <a:pPr algn="ctr"/>
            <a:r>
              <a:rPr sz="1400" b="0">
                <a:solidFill>
                  <a:srgbClr val="000000"/>
                </a:solidFill>
              </a:rPr>
              <a:t>JAIN (Deemed-to-be-University), Faculty of Engineering and Technology, Karnataka, India</a:t>
            </a:r>
          </a:p>
        </p:txBody>
      </p:sp>
      <p:sp>
        <p:nvSpPr>
          <p:cNvPr id="7" name="TextBox 6"/>
          <p:cNvSpPr txBox="1"/>
          <p:nvPr/>
        </p:nvSpPr>
        <p:spPr>
          <a:xfrm>
            <a:off x="457200" y="4663440"/>
            <a:ext cx="11247120" cy="320040"/>
          </a:xfrm>
          <a:prstGeom prst="rect">
            <a:avLst/>
          </a:prstGeom>
          <a:noFill/>
        </p:spPr>
        <p:txBody>
          <a:bodyPr wrap="square">
            <a:spAutoFit/>
          </a:bodyPr>
          <a:lstStyle/>
          <a:p>
            <a:pPr algn="ctr"/>
            <a:r>
              <a:rPr sz="1500" b="1">
                <a:solidFill>
                  <a:srgbClr val="000000"/>
                </a:solidFill>
              </a:rPr>
              <a:t>Presentation By:</a:t>
            </a:r>
          </a:p>
        </p:txBody>
      </p:sp>
      <p:sp>
        <p:nvSpPr>
          <p:cNvPr id="8" name="TextBox 7"/>
          <p:cNvSpPr txBox="1"/>
          <p:nvPr/>
        </p:nvSpPr>
        <p:spPr>
          <a:xfrm>
            <a:off x="457200" y="4937760"/>
            <a:ext cx="11247120" cy="1371600"/>
          </a:xfrm>
          <a:prstGeom prst="rect">
            <a:avLst/>
          </a:prstGeom>
          <a:noFill/>
        </p:spPr>
        <p:txBody>
          <a:bodyPr wrap="square">
            <a:spAutoFit/>
          </a:bodyPr>
          <a:lstStyle/>
          <a:p>
            <a:pPr algn="ctr"/>
            <a:r>
              <a:rPr sz="1200" b="0">
                <a:solidFill>
                  <a:srgbClr val="000000"/>
                </a:solidFill>
              </a:rPr>
              <a:t>Abdul Sami (sababdulsami@gmail.com)  •  Yedhoti Hari Prasad (yedhotihariprasad@gmail.com)  •  S Dhruva (dhruvasinguluri77@gmail.com)  •  Tejas K (tejas.k9585@gmail.com)  •  Varish Gada (Varishgada050304@gmail.com)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 y="91440"/>
            <a:ext cx="11795760" cy="822960"/>
          </a:xfrm>
          <a:prstGeom prst="rect">
            <a:avLst/>
          </a:prstGeom>
          <a:noFill/>
        </p:spPr>
        <p:txBody>
          <a:bodyPr wrap="square">
            <a:spAutoFit/>
          </a:bodyPr>
          <a:lstStyle/>
          <a:p>
            <a:pPr algn="ctr"/>
            <a:r>
              <a:rPr sz="2800" b="1">
                <a:solidFill>
                  <a:srgbClr val="000000"/>
                </a:solidFill>
              </a:rPr>
              <a:t>CONTENTS</a:t>
            </a:r>
          </a:p>
        </p:txBody>
      </p:sp>
      <p:sp>
        <p:nvSpPr>
          <p:cNvPr id="4" name="TextBox 3"/>
          <p:cNvSpPr txBox="1"/>
          <p:nvPr/>
        </p:nvSpPr>
        <p:spPr>
          <a:xfrm>
            <a:off x="457200" y="1097280"/>
            <a:ext cx="5577840" cy="5486400"/>
          </a:xfrm>
          <a:prstGeom prst="rect">
            <a:avLst/>
          </a:prstGeom>
          <a:noFill/>
        </p:spPr>
        <p:txBody>
          <a:bodyPr wrap="square">
            <a:spAutoFit/>
          </a:bodyPr>
          <a:lstStyle/>
          <a:p>
            <a:pPr algn="l"/>
            <a:r>
              <a:rPr sz="1700">
                <a:solidFill>
                  <a:srgbClr val="000000"/>
                </a:solidFill>
              </a:rPr>
              <a:t>❖ Abstract</a:t>
            </a:r>
          </a:p>
          <a:p>
            <a:pPr algn="l"/>
            <a:r>
              <a:rPr sz="1700">
                <a:solidFill>
                  <a:srgbClr val="000000"/>
                </a:solidFill>
              </a:rPr>
              <a:t>❖ Introduction</a:t>
            </a:r>
          </a:p>
          <a:p>
            <a:pPr algn="l"/>
            <a:r>
              <a:rPr sz="1700">
                <a:solidFill>
                  <a:srgbClr val="000000"/>
                </a:solidFill>
              </a:rPr>
              <a:t>❖ Dataset Description</a:t>
            </a:r>
          </a:p>
          <a:p>
            <a:pPr algn="l"/>
            <a:r>
              <a:rPr sz="1700">
                <a:solidFill>
                  <a:srgbClr val="000000"/>
                </a:solidFill>
              </a:rPr>
              <a:t>❖ Data Preprocessing &amp; Augmentation</a:t>
            </a:r>
          </a:p>
          <a:p>
            <a:pPr algn="l"/>
            <a:r>
              <a:rPr sz="1700">
                <a:solidFill>
                  <a:srgbClr val="000000"/>
                </a:solidFill>
              </a:rPr>
              <a:t>❖ Model Architecture (EfficientNetB3)</a:t>
            </a:r>
          </a:p>
          <a:p>
            <a:pPr algn="l"/>
            <a:r>
              <a:rPr sz="1700">
                <a:solidFill>
                  <a:srgbClr val="000000"/>
                </a:solidFill>
              </a:rPr>
              <a:t>❖ System Architecture Diagram</a:t>
            </a:r>
          </a:p>
          <a:p>
            <a:pPr algn="l"/>
            <a:r>
              <a:rPr sz="1700">
                <a:solidFill>
                  <a:srgbClr val="000000"/>
                </a:solidFill>
              </a:rPr>
              <a:t>❖ Training Strategy</a:t>
            </a:r>
          </a:p>
          <a:p>
            <a:pPr algn="l"/>
            <a:r>
              <a:rPr sz="1700">
                <a:solidFill>
                  <a:srgbClr val="000000"/>
                </a:solidFill>
              </a:rPr>
              <a:t>❖ Optimization Techniques</a:t>
            </a:r>
          </a:p>
        </p:txBody>
      </p:sp>
      <p:sp>
        <p:nvSpPr>
          <p:cNvPr id="5" name="TextBox 4"/>
          <p:cNvSpPr txBox="1"/>
          <p:nvPr/>
        </p:nvSpPr>
        <p:spPr>
          <a:xfrm>
            <a:off x="6217920" y="1097280"/>
            <a:ext cx="5577840" cy="5486400"/>
          </a:xfrm>
          <a:prstGeom prst="rect">
            <a:avLst/>
          </a:prstGeom>
          <a:noFill/>
        </p:spPr>
        <p:txBody>
          <a:bodyPr wrap="square">
            <a:spAutoFit/>
          </a:bodyPr>
          <a:lstStyle/>
          <a:p>
            <a:pPr algn="l"/>
            <a:r>
              <a:rPr sz="1700">
                <a:solidFill>
                  <a:srgbClr val="000000"/>
                </a:solidFill>
              </a:rPr>
              <a:t>❖ System Design &amp; Workflow</a:t>
            </a:r>
          </a:p>
          <a:p>
            <a:pPr algn="l"/>
            <a:r>
              <a:rPr sz="1700">
                <a:solidFill>
                  <a:srgbClr val="000000"/>
                </a:solidFill>
              </a:rPr>
              <a:t>❖ Workflow Flowchart</a:t>
            </a:r>
          </a:p>
          <a:p>
            <a:pPr algn="l"/>
            <a:r>
              <a:rPr sz="1700">
                <a:solidFill>
                  <a:srgbClr val="000000"/>
                </a:solidFill>
              </a:rPr>
              <a:t>❖ Results &amp; Performance</a:t>
            </a:r>
          </a:p>
          <a:p>
            <a:pPr algn="l"/>
            <a:r>
              <a:rPr sz="1700">
                <a:solidFill>
                  <a:srgbClr val="000000"/>
                </a:solidFill>
              </a:rPr>
              <a:t>❖ Key Findings</a:t>
            </a:r>
          </a:p>
          <a:p>
            <a:pPr algn="l"/>
            <a:r>
              <a:rPr sz="1700">
                <a:solidFill>
                  <a:srgbClr val="000000"/>
                </a:solidFill>
              </a:rPr>
              <a:t>❖ Limitations</a:t>
            </a:r>
          </a:p>
          <a:p>
            <a:pPr algn="l"/>
            <a:r>
              <a:rPr sz="1700">
                <a:solidFill>
                  <a:srgbClr val="000000"/>
                </a:solidFill>
              </a:rPr>
              <a:t>❖ Future Work</a:t>
            </a:r>
          </a:p>
          <a:p>
            <a:pPr algn="l"/>
            <a:r>
              <a:rPr sz="1700">
                <a:solidFill>
                  <a:srgbClr val="000000"/>
                </a:solidFill>
              </a:rPr>
              <a:t>❖ Conclusion</a:t>
            </a:r>
          </a:p>
          <a:p>
            <a:pPr algn="l"/>
            <a:r>
              <a:rPr sz="1700">
                <a:solidFill>
                  <a:srgbClr val="000000"/>
                </a:solidFill>
              </a:rPr>
              <a:t>❖ References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 y="91440"/>
            <a:ext cx="11795760" cy="822960"/>
          </a:xfrm>
          <a:prstGeom prst="rect">
            <a:avLst/>
          </a:prstGeom>
          <a:noFill/>
        </p:spPr>
        <p:txBody>
          <a:bodyPr wrap="square">
            <a:spAutoFit/>
          </a:bodyPr>
          <a:lstStyle/>
          <a:p>
            <a:pPr algn="ctr"/>
            <a:r>
              <a:rPr sz="2800" b="1">
                <a:solidFill>
                  <a:srgbClr val="000000"/>
                </a:solidFill>
              </a:rPr>
              <a:t>ABSTRACT</a:t>
            </a:r>
          </a:p>
        </p:txBody>
      </p:sp>
      <p:sp>
        <p:nvSpPr>
          <p:cNvPr id="4" name="TextBox 3"/>
          <p:cNvSpPr txBox="1"/>
          <p:nvPr/>
        </p:nvSpPr>
        <p:spPr>
          <a:xfrm>
            <a:off x="457200" y="1097280"/>
            <a:ext cx="11247120" cy="5486400"/>
          </a:xfrm>
          <a:prstGeom prst="rect">
            <a:avLst/>
          </a:prstGeom>
          <a:noFill/>
        </p:spPr>
        <p:txBody>
          <a:bodyPr wrap="square">
            <a:spAutoFit/>
          </a:bodyPr>
          <a:lstStyle/>
          <a:p>
            <a:r>
              <a:rPr sz="1700">
                <a:solidFill>
                  <a:srgbClr val="000000"/>
                </a:solidFill>
              </a:rPr>
              <a:t>LeafScan is a full-stack deep learning application that identifies plant leaf diseases from any photograph. It works on images from cameras, the internet, or anywhere — not just dataset images — and correctly rejects non-leaf inputs.
The system uses the EfficientNetB3 architecture combined with advanced data augmentation, class balancing via weighted sampling, and a novel three-layer 'not-a-leaf' detection mechanism. A three-phase transfer learning strategy ensures solid convergence and better generalisation.
The model is trained and tested on the PlantVillage dataset (54,306 images, 39 classes). Experimental results show ~94–96% test accuracy while remaining robust across diverse real-world situations. The system is deployed via a Flask-based REST API with an interactive web interface.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 y="91440"/>
            <a:ext cx="11795760" cy="822960"/>
          </a:xfrm>
          <a:prstGeom prst="rect">
            <a:avLst/>
          </a:prstGeom>
          <a:noFill/>
        </p:spPr>
        <p:txBody>
          <a:bodyPr wrap="square">
            <a:spAutoFit/>
          </a:bodyPr>
          <a:lstStyle/>
          <a:p>
            <a:pPr algn="ctr"/>
            <a:r>
              <a:rPr sz="2800" b="1">
                <a:solidFill>
                  <a:srgbClr val="000000"/>
                </a:solidFill>
              </a:rPr>
              <a:t>INTRODUCTION</a:t>
            </a:r>
          </a:p>
        </p:txBody>
      </p:sp>
      <p:sp>
        <p:nvSpPr>
          <p:cNvPr id="4" name="TextBox 3"/>
          <p:cNvSpPr txBox="1"/>
          <p:nvPr/>
        </p:nvSpPr>
        <p:spPr>
          <a:xfrm>
            <a:off x="457200" y="1097280"/>
            <a:ext cx="11247120" cy="5486400"/>
          </a:xfrm>
          <a:prstGeom prst="rect">
            <a:avLst/>
          </a:prstGeom>
          <a:noFill/>
        </p:spPr>
        <p:txBody>
          <a:bodyPr wrap="square">
            <a:spAutoFit/>
          </a:bodyPr>
          <a:lstStyle/>
          <a:p>
            <a:pPr algn="l"/>
            <a:r>
              <a:rPr sz="1600">
                <a:solidFill>
                  <a:srgbClr val="000000"/>
                </a:solidFill>
              </a:rPr>
              <a:t>• Agriculture is a key economic sector — plant diseases cause big losses and threaten food security.</a:t>
            </a:r>
          </a:p>
          <a:p>
            <a:pPr algn="l"/>
            <a:r>
              <a:rPr sz="1600">
                <a:solidFill>
                  <a:srgbClr val="000000"/>
                </a:solidFill>
              </a:rPr>
              <a:t>• Traditional manual diagnosis is time-consuming, error-prone, and inaccessible in remote areas.</a:t>
            </a:r>
          </a:p>
          <a:p>
            <a:pPr algn="l"/>
            <a:r>
              <a:rPr sz="1600">
                <a:solidFill>
                  <a:srgbClr val="000000"/>
                </a:solidFill>
              </a:rPr>
              <a:t>• Deep learning and computer vision now enable automated disease detection from leaf images.</a:t>
            </a:r>
          </a:p>
          <a:p>
            <a:pPr algn="l"/>
            <a:r>
              <a:rPr sz="1600">
                <a:solidFill>
                  <a:srgbClr val="000000"/>
                </a:solidFill>
              </a:rPr>
              <a:t>• Existing systems are limited to controlled datasets and poor real-world generalisation.</a:t>
            </a:r>
          </a:p>
          <a:p>
            <a:pPr algn="l"/>
            <a:r>
              <a:rPr sz="1600">
                <a:solidFill>
                  <a:srgbClr val="000000"/>
                </a:solidFill>
              </a:rPr>
              <a:t>• LeafScan addresses these gaps with:</a:t>
            </a:r>
          </a:p>
          <a:p>
            <a:pPr algn="l"/>
            <a:r>
              <a:rPr sz="1600">
                <a:solidFill>
                  <a:srgbClr val="000000"/>
                </a:solidFill>
              </a:rPr>
              <a:t>      – EfficientNetB3 for high-performance image classification</a:t>
            </a:r>
          </a:p>
          <a:p>
            <a:pPr algn="l"/>
            <a:r>
              <a:rPr sz="1600">
                <a:solidFill>
                  <a:srgbClr val="000000"/>
                </a:solidFill>
              </a:rPr>
              <a:t>      – Advanced data augmentation for real-world robustness</a:t>
            </a:r>
          </a:p>
          <a:p>
            <a:pPr algn="l"/>
            <a:r>
              <a:rPr sz="1600">
                <a:solidFill>
                  <a:srgbClr val="000000"/>
                </a:solidFill>
              </a:rPr>
              <a:t>      – Weighted sampling to handle class imbalance</a:t>
            </a:r>
          </a:p>
          <a:p>
            <a:pPr algn="l"/>
            <a:r>
              <a:rPr sz="1600">
                <a:solidFill>
                  <a:srgbClr val="000000"/>
                </a:solidFill>
              </a:rPr>
              <a:t>      – A 'not-a-leaf' detection mechanism to reject invalid inputs</a:t>
            </a:r>
          </a:p>
          <a:p>
            <a:pPr algn="l"/>
            <a:r>
              <a:rPr sz="1600">
                <a:solidFill>
                  <a:srgbClr val="000000"/>
                </a:solidFill>
              </a:rPr>
              <a:t>      – A full-stack Flask + Web deployment for real-time predictions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 y="91440"/>
            <a:ext cx="11795760" cy="822960"/>
          </a:xfrm>
          <a:prstGeom prst="rect">
            <a:avLst/>
          </a:prstGeom>
          <a:noFill/>
        </p:spPr>
        <p:txBody>
          <a:bodyPr wrap="square">
            <a:spAutoFit/>
          </a:bodyPr>
          <a:lstStyle/>
          <a:p>
            <a:pPr algn="ctr"/>
            <a:r>
              <a:rPr sz="2800" b="1">
                <a:solidFill>
                  <a:srgbClr val="000000"/>
                </a:solidFill>
              </a:rPr>
              <a:t>SYSTEM REQUIREMENTS</a:t>
            </a:r>
          </a:p>
        </p:txBody>
      </p:sp>
      <p:sp>
        <p:nvSpPr>
          <p:cNvPr id="4" name="TextBox 3"/>
          <p:cNvSpPr txBox="1"/>
          <p:nvPr/>
        </p:nvSpPr>
        <p:spPr>
          <a:xfrm>
            <a:off x="457200" y="1188720"/>
            <a:ext cx="5029200" cy="365760"/>
          </a:xfrm>
          <a:prstGeom prst="rect">
            <a:avLst/>
          </a:prstGeom>
          <a:noFill/>
        </p:spPr>
        <p:txBody>
          <a:bodyPr wrap="square">
            <a:spAutoFit/>
          </a:bodyPr>
          <a:lstStyle/>
          <a:p>
            <a:pPr algn="l"/>
            <a:r>
              <a:rPr sz="1800" b="1">
                <a:solidFill>
                  <a:srgbClr val="000000"/>
                </a:solidFill>
              </a:rPr>
              <a:t>Software Configuration</a:t>
            </a:r>
          </a:p>
        </p:txBody>
      </p:sp>
      <p:sp>
        <p:nvSpPr>
          <p:cNvPr id="5" name="TextBox 4"/>
          <p:cNvSpPr txBox="1"/>
          <p:nvPr/>
        </p:nvSpPr>
        <p:spPr>
          <a:xfrm>
            <a:off x="457200" y="1600200"/>
            <a:ext cx="5486400" cy="3200400"/>
          </a:xfrm>
          <a:prstGeom prst="rect">
            <a:avLst/>
          </a:prstGeom>
          <a:noFill/>
        </p:spPr>
        <p:txBody>
          <a:bodyPr wrap="square">
            <a:spAutoFit/>
          </a:bodyPr>
          <a:lstStyle/>
          <a:p>
            <a:pPr algn="l"/>
            <a:r>
              <a:rPr sz="1500">
                <a:solidFill>
                  <a:srgbClr val="000000"/>
                </a:solidFill>
              </a:rPr>
              <a:t>Operating System: Linux / macOS / Windows</a:t>
            </a:r>
          </a:p>
          <a:p>
            <a:pPr algn="l"/>
            <a:r>
              <a:rPr sz="1500">
                <a:solidFill>
                  <a:srgbClr val="000000"/>
                </a:solidFill>
              </a:rPr>
              <a:t>Language: Python 3.8+</a:t>
            </a:r>
          </a:p>
          <a:p>
            <a:pPr algn="l"/>
            <a:r>
              <a:rPr sz="1500">
                <a:solidFill>
                  <a:srgbClr val="000000"/>
                </a:solidFill>
              </a:rPr>
              <a:t>Framework: PyTorch 2.0+, Flask 3.0+</a:t>
            </a:r>
          </a:p>
          <a:p>
            <a:pPr algn="l"/>
            <a:r>
              <a:rPr sz="1500">
                <a:solidFill>
                  <a:srgbClr val="000000"/>
                </a:solidFill>
              </a:rPr>
              <a:t>Key Libraries: timm, torchvision, Pillow, scikit-learn,</a:t>
            </a:r>
          </a:p>
          <a:p>
            <a:pPr algn="l"/>
            <a:r>
              <a:rPr sz="1500">
                <a:solidFill>
                  <a:srgbClr val="000000"/>
                </a:solidFill>
              </a:rPr>
              <a:t>                          albumentations, matplotlib, seaborn, numpy</a:t>
            </a:r>
          </a:p>
        </p:txBody>
      </p:sp>
      <p:sp>
        <p:nvSpPr>
          <p:cNvPr id="6" name="TextBox 5"/>
          <p:cNvSpPr txBox="1"/>
          <p:nvPr/>
        </p:nvSpPr>
        <p:spPr>
          <a:xfrm>
            <a:off x="6675120" y="1188720"/>
            <a:ext cx="5029200" cy="365760"/>
          </a:xfrm>
          <a:prstGeom prst="rect">
            <a:avLst/>
          </a:prstGeom>
          <a:noFill/>
        </p:spPr>
        <p:txBody>
          <a:bodyPr wrap="square">
            <a:spAutoFit/>
          </a:bodyPr>
          <a:lstStyle/>
          <a:p>
            <a:pPr algn="l"/>
            <a:r>
              <a:rPr sz="1800" b="1">
                <a:solidFill>
                  <a:srgbClr val="000000"/>
                </a:solidFill>
              </a:rPr>
              <a:t>Hardware Configuration</a:t>
            </a:r>
          </a:p>
        </p:txBody>
      </p:sp>
      <p:sp>
        <p:nvSpPr>
          <p:cNvPr id="7" name="TextBox 6"/>
          <p:cNvSpPr txBox="1"/>
          <p:nvPr/>
        </p:nvSpPr>
        <p:spPr>
          <a:xfrm>
            <a:off x="6675120" y="1600200"/>
            <a:ext cx="5212080" cy="2286000"/>
          </a:xfrm>
          <a:prstGeom prst="rect">
            <a:avLst/>
          </a:prstGeom>
          <a:noFill/>
        </p:spPr>
        <p:txBody>
          <a:bodyPr wrap="square">
            <a:spAutoFit/>
          </a:bodyPr>
          <a:lstStyle/>
          <a:p>
            <a:pPr algn="l"/>
            <a:r>
              <a:rPr sz="1500">
                <a:solidFill>
                  <a:srgbClr val="000000"/>
                </a:solidFill>
              </a:rPr>
              <a:t>GPU: NVIDIA T4 / equivalent (recommended)</a:t>
            </a:r>
          </a:p>
          <a:p>
            <a:pPr algn="l"/>
            <a:r>
              <a:rPr sz="1500">
                <a:solidFill>
                  <a:srgbClr val="000000"/>
                </a:solidFill>
              </a:rPr>
              <a:t>RAM: 16 GB+ recommended</a:t>
            </a:r>
          </a:p>
          <a:p>
            <a:pPr algn="l"/>
            <a:r>
              <a:rPr sz="1500">
                <a:solidFill>
                  <a:srgbClr val="000000"/>
                </a:solidFill>
              </a:rPr>
              <a:t>Storage: 10 GB+ (dataset + model weights)</a:t>
            </a:r>
          </a:p>
          <a:p>
            <a:pPr algn="l"/>
            <a:r>
              <a:rPr sz="1500">
                <a:solidFill>
                  <a:srgbClr val="000000"/>
                </a:solidFill>
              </a:rPr>
              <a:t>CPU: Intel i5 / AMD Ryzen 5 or better</a:t>
            </a:r>
          </a:p>
        </p:txBody>
      </p:sp>
      <p:sp>
        <p:nvSpPr>
          <p:cNvPr id="8" name="TextBox 7"/>
          <p:cNvSpPr txBox="1"/>
          <p:nvPr/>
        </p:nvSpPr>
        <p:spPr>
          <a:xfrm>
            <a:off x="457200" y="4572000"/>
            <a:ext cx="11247120" cy="365760"/>
          </a:xfrm>
          <a:prstGeom prst="rect">
            <a:avLst/>
          </a:prstGeom>
          <a:noFill/>
        </p:spPr>
        <p:txBody>
          <a:bodyPr wrap="square">
            <a:spAutoFit/>
          </a:bodyPr>
          <a:lstStyle/>
          <a:p>
            <a:pPr algn="l"/>
            <a:r>
              <a:rPr sz="1800" b="1">
                <a:solidFill>
                  <a:srgbClr val="000000"/>
                </a:solidFill>
              </a:rPr>
              <a:t>Training Environment</a:t>
            </a:r>
          </a:p>
        </p:txBody>
      </p:sp>
      <p:sp>
        <p:nvSpPr>
          <p:cNvPr id="9" name="TextBox 8"/>
          <p:cNvSpPr txBox="1"/>
          <p:nvPr/>
        </p:nvSpPr>
        <p:spPr>
          <a:xfrm>
            <a:off x="457200" y="4937760"/>
            <a:ext cx="11247120" cy="1645920"/>
          </a:xfrm>
          <a:prstGeom prst="rect">
            <a:avLst/>
          </a:prstGeom>
          <a:noFill/>
        </p:spPr>
        <p:txBody>
          <a:bodyPr wrap="square">
            <a:spAutoFit/>
          </a:bodyPr>
          <a:lstStyle/>
          <a:p>
            <a:pPr algn="l"/>
            <a:r>
              <a:rPr sz="1500">
                <a:solidFill>
                  <a:srgbClr val="000000"/>
                </a:solidFill>
              </a:rPr>
              <a:t>Google Colab Pro / Kaggle Notebooks (T4 GPU) — Training time: ~1.5–2 hours per run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 y="91440"/>
            <a:ext cx="11795760" cy="822960"/>
          </a:xfrm>
          <a:prstGeom prst="rect">
            <a:avLst/>
          </a:prstGeom>
          <a:noFill/>
        </p:spPr>
        <p:txBody>
          <a:bodyPr wrap="square">
            <a:spAutoFit/>
          </a:bodyPr>
          <a:lstStyle/>
          <a:p>
            <a:pPr algn="ctr"/>
            <a:r>
              <a:rPr sz="2800" b="1">
                <a:solidFill>
                  <a:srgbClr val="000000"/>
                </a:solidFill>
              </a:rPr>
              <a:t>LITERATURE SURVEY</a:t>
            </a:r>
          </a:p>
        </p:txBody>
      </p:sp>
      <p:sp>
        <p:nvSpPr>
          <p:cNvPr id="4" name="TextBox 3"/>
          <p:cNvSpPr txBox="1"/>
          <p:nvPr/>
        </p:nvSpPr>
        <p:spPr>
          <a:xfrm>
            <a:off x="457200" y="1097280"/>
            <a:ext cx="11247120" cy="5486400"/>
          </a:xfrm>
          <a:prstGeom prst="rect">
            <a:avLst/>
          </a:prstGeom>
          <a:noFill/>
        </p:spPr>
        <p:txBody>
          <a:bodyPr wrap="square">
            <a:spAutoFit/>
          </a:bodyPr>
          <a:lstStyle/>
          <a:p>
            <a:pPr algn="l"/>
            <a:r>
              <a:rPr sz="1500">
                <a:solidFill>
                  <a:srgbClr val="000000"/>
                </a:solidFill>
              </a:rPr>
              <a:t>1. Early methods used SVM, Decision Trees, k-NN — required manual feature extraction, struggled with complex patterns.</a:t>
            </a:r>
          </a:p>
          <a:p>
            <a:pPr algn="l"/>
            <a:r>
              <a:rPr sz="1500">
                <a:solidFill>
                  <a:srgbClr val="000000"/>
                </a:solidFill>
              </a:rPr>
              <a:t>2. CNNs (AlexNet, VGGNet, ResNet) learned hierarchical features automatically — large accuracy gains, but computationally expensive.</a:t>
            </a:r>
          </a:p>
          <a:p>
            <a:pPr algn="l"/>
            <a:r>
              <a:rPr sz="1500">
                <a:solidFill>
                  <a:srgbClr val="000000"/>
                </a:solidFill>
              </a:rPr>
              <a:t>3. MobileNet brought lightweight models for mobile devices; ResNet solved vanishing gradients with residual connections.</a:t>
            </a:r>
          </a:p>
          <a:p>
            <a:pPr algn="l"/>
            <a:r>
              <a:rPr sz="1500">
                <a:solidFill>
                  <a:srgbClr val="000000"/>
                </a:solidFill>
              </a:rPr>
              <a:t>4. Tan &amp; Le (2019) introduced EfficientNet — compound scaling of depth, width, resolution achieves better accuracy with fewer parameters.</a:t>
            </a:r>
          </a:p>
          <a:p>
            <a:pPr algn="l"/>
            <a:r>
              <a:rPr sz="1500">
                <a:solidFill>
                  <a:srgbClr val="000000"/>
                </a:solidFill>
              </a:rPr>
              <a:t>5. EfficientNetB3 is the sweet spot: 81.6% ImageNet accuracy, 12M parameters, medium inference speed.</a:t>
            </a:r>
          </a:p>
          <a:p>
            <a:pPr algn="l"/>
            <a:r>
              <a:rPr sz="1500">
                <a:solidFill>
                  <a:srgbClr val="000000"/>
                </a:solidFill>
              </a:rPr>
              <a:t>6. Most existing plant-disease systems are limited to controlled datasets, lack generalisation and invalid-input handling.</a:t>
            </a:r>
          </a:p>
          <a:p>
            <a:pPr algn="l"/>
            <a:r>
              <a:rPr sz="1500">
                <a:solidFill>
                  <a:srgbClr val="000000"/>
                </a:solidFill>
              </a:rPr>
              <a:t>7. LeafScan extends state-of-the-art by adding real-world augmentation, class balancing, and a not-a-leaf rejection layer.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 y="91440"/>
            <a:ext cx="11795760" cy="822960"/>
          </a:xfrm>
          <a:prstGeom prst="rect">
            <a:avLst/>
          </a:prstGeom>
          <a:noFill/>
        </p:spPr>
        <p:txBody>
          <a:bodyPr wrap="square">
            <a:spAutoFit/>
          </a:bodyPr>
          <a:lstStyle/>
          <a:p>
            <a:pPr algn="ctr"/>
            <a:r>
              <a:rPr sz="2800" b="1">
                <a:solidFill>
                  <a:srgbClr val="000000"/>
                </a:solidFill>
              </a:rPr>
              <a:t>DATASET DESCRIPTION</a:t>
            </a:r>
          </a:p>
        </p:txBody>
      </p:sp>
      <p:sp>
        <p:nvSpPr>
          <p:cNvPr id="4" name="TextBox 3"/>
          <p:cNvSpPr txBox="1"/>
          <p:nvPr/>
        </p:nvSpPr>
        <p:spPr>
          <a:xfrm>
            <a:off x="457200" y="1097280"/>
            <a:ext cx="6858000" cy="1828800"/>
          </a:xfrm>
          <a:prstGeom prst="rect">
            <a:avLst/>
          </a:prstGeom>
          <a:noFill/>
        </p:spPr>
        <p:txBody>
          <a:bodyPr wrap="square">
            <a:spAutoFit/>
          </a:bodyPr>
          <a:lstStyle/>
          <a:p>
            <a:pPr algn="l"/>
            <a:r>
              <a:rPr sz="1500">
                <a:solidFill>
                  <a:srgbClr val="000000"/>
                </a:solidFill>
              </a:rPr>
              <a:t>Source: PlantVillage — Penn State University (2016)</a:t>
            </a:r>
          </a:p>
          <a:p>
            <a:pPr algn="l"/>
            <a:r>
              <a:rPr sz="1500">
                <a:solidFill>
                  <a:srgbClr val="000000"/>
                </a:solidFill>
              </a:rPr>
              <a:t>Total Images: 54,306 labelled RGB JPG photos of plant leaves</a:t>
            </a:r>
          </a:p>
          <a:p>
            <a:pPr algn="l"/>
            <a:r>
              <a:rPr sz="1500">
                <a:solidFill>
                  <a:srgbClr val="000000"/>
                </a:solidFill>
              </a:rPr>
              <a:t>Crops: 14 species (Apple, Tomato, Potato, Corn, Grape, Orange, Peach, Pepper, Raspberry,</a:t>
            </a:r>
          </a:p>
          <a:p>
            <a:pPr algn="l"/>
            <a:r>
              <a:rPr sz="1500">
                <a:solidFill>
                  <a:srgbClr val="000000"/>
                </a:solidFill>
              </a:rPr>
              <a:t>             Blueberry, Soybean, Squash, Strawberry, Cherry)</a:t>
            </a:r>
          </a:p>
          <a:p>
            <a:pPr algn="l"/>
            <a:r>
              <a:rPr sz="1500">
                <a:solidFill>
                  <a:srgbClr val="000000"/>
                </a:solidFill>
              </a:rPr>
              <a:t>Classes: 38 original + 1 synthetic 'not_a_leaf' class = 39 total</a:t>
            </a:r>
          </a:p>
          <a:p>
            <a:pPr algn="l"/>
            <a:r>
              <a:rPr sz="1500">
                <a:solidFill>
                  <a:srgbClr val="000000"/>
                </a:solidFill>
              </a:rPr>
              <a:t>License: CC BY 4.0</a:t>
            </a:r>
          </a:p>
        </p:txBody>
      </p:sp>
      <p:graphicFrame>
        <p:nvGraphicFramePr>
          <p:cNvPr id="5" name="Table 4"/>
          <p:cNvGraphicFramePr>
            <a:graphicFrameLocks noGrp="1"/>
          </p:cNvGraphicFramePr>
          <p:nvPr/>
        </p:nvGraphicFramePr>
        <p:xfrm>
          <a:off x="457200" y="3200400"/>
          <a:ext cx="6400800" cy="2560320"/>
        </p:xfrm>
        <a:graphic>
          <a:graphicData uri="http://schemas.openxmlformats.org/drawingml/2006/table">
            <a:tbl>
              <a:tblPr firstRow="1" bandRow="1">
                <a:tableStyleId>{5C22544A-7EE6-4342-B048-85BDC9FD1C3A}</a:tableStyleId>
              </a:tblPr>
              <a:tblGrid>
                <a:gridCol w="3657600"/>
                <a:gridCol w="2743200"/>
              </a:tblGrid>
              <a:tr h="365760">
                <a:tc>
                  <a:txBody>
                    <a:bodyPr/>
                    <a:lstStyle/>
                    <a:p>
                      <a:pPr algn="ctr"/>
                      <a:r>
                        <a:rPr sz="1300" b="1">
                          <a:solidFill>
                            <a:srgbClr val="000000"/>
                          </a:solidFill>
                        </a:rPr>
                        <a:t>Parameter</a:t>
                      </a:r>
                    </a:p>
                  </a:txBody>
                  <a:tcPr>
                    <a:solidFill>
                      <a:srgbClr val="E6E6E6"/>
                    </a:solidFill>
                  </a:tcPr>
                </a:tc>
                <a:tc>
                  <a:txBody>
                    <a:bodyPr/>
                    <a:lstStyle/>
                    <a:p>
                      <a:pPr algn="ctr"/>
                      <a:r>
                        <a:rPr sz="1300" b="1">
                          <a:solidFill>
                            <a:srgbClr val="000000"/>
                          </a:solidFill>
                        </a:rPr>
                        <a:t>Value</a:t>
                      </a:r>
                    </a:p>
                  </a:txBody>
                  <a:tcPr>
                    <a:solidFill>
                      <a:srgbClr val="E6E6E6"/>
                    </a:solidFill>
                  </a:tcPr>
                </a:tc>
              </a:tr>
              <a:tr h="365760">
                <a:tc>
                  <a:txBody>
                    <a:bodyPr/>
                    <a:lstStyle/>
                    <a:p>
                      <a:pPr algn="ctr"/>
                      <a:r>
                        <a:rPr sz="1300" b="0">
                          <a:solidFill>
                            <a:srgbClr val="000000"/>
                          </a:solidFill>
                        </a:rPr>
                        <a:t>Total Images</a:t>
                      </a:r>
                    </a:p>
                  </a:txBody>
                  <a:tcPr>
                    <a:solidFill>
                      <a:srgbClr val="FFFFFF"/>
                    </a:solidFill>
                  </a:tcPr>
                </a:tc>
                <a:tc>
                  <a:txBody>
                    <a:bodyPr/>
                    <a:lstStyle/>
                    <a:p>
                      <a:pPr algn="ctr"/>
                      <a:r>
                        <a:rPr sz="1300" b="0">
                          <a:solidFill>
                            <a:srgbClr val="000000"/>
                          </a:solidFill>
                        </a:rPr>
                        <a:t>54,306</a:t>
                      </a:r>
                    </a:p>
                  </a:txBody>
                  <a:tcPr>
                    <a:solidFill>
                      <a:srgbClr val="FFFFFF"/>
                    </a:solidFill>
                  </a:tcPr>
                </a:tc>
              </a:tr>
              <a:tr h="365760">
                <a:tc>
                  <a:txBody>
                    <a:bodyPr/>
                    <a:lstStyle/>
                    <a:p>
                      <a:pPr algn="ctr"/>
                      <a:r>
                        <a:rPr sz="1300" b="0">
                          <a:solidFill>
                            <a:srgbClr val="000000"/>
                          </a:solidFill>
                        </a:rPr>
                        <a:t>Number of Classes</a:t>
                      </a:r>
                    </a:p>
                  </a:txBody>
                  <a:tcPr>
                    <a:solidFill>
                      <a:srgbClr val="FFFFFF"/>
                    </a:solidFill>
                  </a:tcPr>
                </a:tc>
                <a:tc>
                  <a:txBody>
                    <a:bodyPr/>
                    <a:lstStyle/>
                    <a:p>
                      <a:pPr algn="ctr"/>
                      <a:r>
                        <a:rPr sz="1300" b="0">
                          <a:solidFill>
                            <a:srgbClr val="000000"/>
                          </a:solidFill>
                        </a:rPr>
                        <a:t>39</a:t>
                      </a:r>
                    </a:p>
                  </a:txBody>
                  <a:tcPr>
                    <a:solidFill>
                      <a:srgbClr val="FFFFFF"/>
                    </a:solidFill>
                  </a:tcPr>
                </a:tc>
              </a:tr>
              <a:tr h="365760">
                <a:tc>
                  <a:txBody>
                    <a:bodyPr/>
                    <a:lstStyle/>
                    <a:p>
                      <a:pPr algn="ctr"/>
                      <a:r>
                        <a:rPr sz="1300" b="0">
                          <a:solidFill>
                            <a:srgbClr val="000000"/>
                          </a:solidFill>
                        </a:rPr>
                        <a:t>Training Set</a:t>
                      </a:r>
                    </a:p>
                  </a:txBody>
                  <a:tcPr>
                    <a:solidFill>
                      <a:srgbClr val="FFFFFF"/>
                    </a:solidFill>
                  </a:tcPr>
                </a:tc>
                <a:tc>
                  <a:txBody>
                    <a:bodyPr/>
                    <a:lstStyle/>
                    <a:p>
                      <a:pPr algn="ctr"/>
                      <a:r>
                        <a:rPr sz="1300" b="0">
                          <a:solidFill>
                            <a:srgbClr val="000000"/>
                          </a:solidFill>
                        </a:rPr>
                        <a:t>70% (~38,000 images)</a:t>
                      </a:r>
                    </a:p>
                  </a:txBody>
                  <a:tcPr>
                    <a:solidFill>
                      <a:srgbClr val="FFFFFF"/>
                    </a:solidFill>
                  </a:tcPr>
                </a:tc>
              </a:tr>
              <a:tr h="365760">
                <a:tc>
                  <a:txBody>
                    <a:bodyPr/>
                    <a:lstStyle/>
                    <a:p>
                      <a:pPr algn="ctr"/>
                      <a:r>
                        <a:rPr sz="1300" b="0">
                          <a:solidFill>
                            <a:srgbClr val="000000"/>
                          </a:solidFill>
                        </a:rPr>
                        <a:t>Validation Set</a:t>
                      </a:r>
                    </a:p>
                  </a:txBody>
                  <a:tcPr>
                    <a:solidFill>
                      <a:srgbClr val="FFFFFF"/>
                    </a:solidFill>
                  </a:tcPr>
                </a:tc>
                <a:tc>
                  <a:txBody>
                    <a:bodyPr/>
                    <a:lstStyle/>
                    <a:p>
                      <a:pPr algn="ctr"/>
                      <a:r>
                        <a:rPr sz="1300" b="0">
                          <a:solidFill>
                            <a:srgbClr val="000000"/>
                          </a:solidFill>
                        </a:rPr>
                        <a:t>15% (~8,300 images)</a:t>
                      </a:r>
                    </a:p>
                  </a:txBody>
                  <a:tcPr>
                    <a:solidFill>
                      <a:srgbClr val="FFFFFF"/>
                    </a:solidFill>
                  </a:tcPr>
                </a:tc>
              </a:tr>
              <a:tr h="365760">
                <a:tc>
                  <a:txBody>
                    <a:bodyPr/>
                    <a:lstStyle/>
                    <a:p>
                      <a:pPr algn="ctr"/>
                      <a:r>
                        <a:rPr sz="1300" b="0">
                          <a:solidFill>
                            <a:srgbClr val="000000"/>
                          </a:solidFill>
                        </a:rPr>
                        <a:t>Test Set</a:t>
                      </a:r>
                    </a:p>
                  </a:txBody>
                  <a:tcPr>
                    <a:solidFill>
                      <a:srgbClr val="FFFFFF"/>
                    </a:solidFill>
                  </a:tcPr>
                </a:tc>
                <a:tc>
                  <a:txBody>
                    <a:bodyPr/>
                    <a:lstStyle/>
                    <a:p>
                      <a:pPr algn="ctr"/>
                      <a:r>
                        <a:rPr sz="1300" b="0">
                          <a:solidFill>
                            <a:srgbClr val="000000"/>
                          </a:solidFill>
                        </a:rPr>
                        <a:t>15% (~8,300 images)</a:t>
                      </a:r>
                    </a:p>
                  </a:txBody>
                  <a:tcPr>
                    <a:solidFill>
                      <a:srgbClr val="FFFFFF"/>
                    </a:solidFill>
                  </a:tcPr>
                </a:tc>
              </a:tr>
              <a:tr h="365760">
                <a:tc>
                  <a:txBody>
                    <a:bodyPr/>
                    <a:lstStyle/>
                    <a:p>
                      <a:pPr algn="ctr"/>
                      <a:r>
                        <a:rPr sz="1300" b="0">
                          <a:solidFill>
                            <a:srgbClr val="000000"/>
                          </a:solidFill>
                        </a:rPr>
                        <a:t>Not-a-Leaf Images</a:t>
                      </a:r>
                    </a:p>
                  </a:txBody>
                  <a:tcPr>
                    <a:solidFill>
                      <a:srgbClr val="FFFFFF"/>
                    </a:solidFill>
                  </a:tcPr>
                </a:tc>
                <a:tc>
                  <a:txBody>
                    <a:bodyPr/>
                    <a:lstStyle/>
                    <a:p>
                      <a:pPr algn="ctr"/>
                      <a:r>
                        <a:rPr sz="1300" b="0">
                          <a:solidFill>
                            <a:srgbClr val="000000"/>
                          </a:solidFill>
                        </a:rPr>
                        <a:t>1,500 synthetic</a:t>
                      </a:r>
                    </a:p>
                  </a:txBody>
                  <a:tcPr>
                    <a:solidFill>
                      <a:srgbClr val="FFFFFF"/>
                    </a:solidFill>
                  </a:tcPr>
                </a:tc>
              </a:tr>
            </a:tbl>
          </a:graphicData>
        </a:graphic>
      </p:graphicFrame>
      <p:sp>
        <p:nvSpPr>
          <p:cNvPr id="6" name="TextBox 5"/>
          <p:cNvSpPr txBox="1"/>
          <p:nvPr/>
        </p:nvSpPr>
        <p:spPr>
          <a:xfrm>
            <a:off x="7498079" y="1097280"/>
            <a:ext cx="4572000" cy="5486400"/>
          </a:xfrm>
          <a:prstGeom prst="rect">
            <a:avLst/>
          </a:prstGeom>
          <a:noFill/>
        </p:spPr>
        <p:txBody>
          <a:bodyPr wrap="square">
            <a:spAutoFit/>
          </a:bodyPr>
          <a:lstStyle/>
          <a:p>
            <a:pPr algn="l"/>
            <a:r>
              <a:rPr sz="1400">
                <a:solidFill>
                  <a:srgbClr val="000000"/>
                </a:solidFill>
              </a:rPr>
              <a:t>Not-a-Leaf class contains:</a:t>
            </a:r>
          </a:p>
          <a:p>
            <a:pPr algn="l"/>
            <a:r>
              <a:rPr sz="1400">
                <a:solidFill>
                  <a:srgbClr val="000000"/>
                </a:solidFill>
              </a:rPr>
              <a:t>  • Solid colour images</a:t>
            </a:r>
          </a:p>
          <a:p>
            <a:pPr algn="l"/>
            <a:r>
              <a:rPr sz="1400">
                <a:solidFill>
                  <a:srgbClr val="000000"/>
                </a:solidFill>
              </a:rPr>
              <a:t>  • Random noise patterns</a:t>
            </a:r>
          </a:p>
          <a:p>
            <a:pPr algn="l"/>
            <a:r>
              <a:rPr sz="1400">
                <a:solidFill>
                  <a:srgbClr val="000000"/>
                </a:solidFill>
              </a:rPr>
              <a:t>  • Gradient textures</a:t>
            </a:r>
          </a:p>
          <a:p>
            <a:pPr algn="l"/>
            <a:r>
              <a:rPr sz="1400">
                <a:solidFill>
                  <a:srgbClr val="000000"/>
                </a:solidFill>
              </a:rPr>
              <a:t>  • Geometric shapes</a:t>
            </a:r>
          </a:p>
          <a:p>
            <a:pPr algn="l"/>
            <a:r>
              <a:rPr sz="1400">
                <a:solidFill>
                  <a:srgbClr val="000000"/>
                </a:solidFill>
              </a:rPr>
              <a:t/>
            </a:r>
          </a:p>
          <a:p>
            <a:pPr algn="l"/>
            <a:r>
              <a:rPr sz="1400">
                <a:solidFill>
                  <a:srgbClr val="000000"/>
                </a:solidFill>
              </a:rPr>
              <a:t>Purpose: teach the model to</a:t>
            </a:r>
          </a:p>
          <a:p>
            <a:pPr algn="l"/>
            <a:r>
              <a:rPr sz="1400">
                <a:solidFill>
                  <a:srgbClr val="000000"/>
                </a:solidFill>
              </a:rPr>
              <a:t>reject non-leaf inputs and</a:t>
            </a:r>
          </a:p>
          <a:p>
            <a:pPr algn="l"/>
            <a:r>
              <a:rPr sz="1400">
                <a:solidFill>
                  <a:srgbClr val="000000"/>
                </a:solidFill>
              </a:rPr>
              <a:t>avoid false positives.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 y="91440"/>
            <a:ext cx="11795760" cy="822960"/>
          </a:xfrm>
          <a:prstGeom prst="rect">
            <a:avLst/>
          </a:prstGeom>
          <a:noFill/>
        </p:spPr>
        <p:txBody>
          <a:bodyPr wrap="square">
            <a:spAutoFit/>
          </a:bodyPr>
          <a:lstStyle/>
          <a:p>
            <a:pPr algn="ctr"/>
            <a:r>
              <a:rPr sz="2800" b="1">
                <a:solidFill>
                  <a:srgbClr val="000000"/>
                </a:solidFill>
              </a:rPr>
              <a:t>DATA PREPROCESSING &amp; AUGMENTATION</a:t>
            </a:r>
          </a:p>
        </p:txBody>
      </p:sp>
      <p:sp>
        <p:nvSpPr>
          <p:cNvPr id="4" name="TextBox 3"/>
          <p:cNvSpPr txBox="1"/>
          <p:nvPr/>
        </p:nvSpPr>
        <p:spPr>
          <a:xfrm>
            <a:off x="457200" y="1097280"/>
            <a:ext cx="5486400" cy="365760"/>
          </a:xfrm>
          <a:prstGeom prst="rect">
            <a:avLst/>
          </a:prstGeom>
          <a:noFill/>
        </p:spPr>
        <p:txBody>
          <a:bodyPr wrap="square">
            <a:spAutoFit/>
          </a:bodyPr>
          <a:lstStyle/>
          <a:p>
            <a:pPr algn="l"/>
            <a:r>
              <a:rPr sz="1700" b="1">
                <a:solidFill>
                  <a:srgbClr val="000000"/>
                </a:solidFill>
              </a:rPr>
              <a:t>Preprocessing Steps</a:t>
            </a:r>
          </a:p>
        </p:txBody>
      </p:sp>
      <p:sp>
        <p:nvSpPr>
          <p:cNvPr id="5" name="TextBox 4"/>
          <p:cNvSpPr txBox="1"/>
          <p:nvPr/>
        </p:nvSpPr>
        <p:spPr>
          <a:xfrm>
            <a:off x="457200" y="1463040"/>
            <a:ext cx="5486400" cy="1828800"/>
          </a:xfrm>
          <a:prstGeom prst="rect">
            <a:avLst/>
          </a:prstGeom>
          <a:noFill/>
        </p:spPr>
        <p:txBody>
          <a:bodyPr wrap="square">
            <a:spAutoFit/>
          </a:bodyPr>
          <a:lstStyle/>
          <a:p>
            <a:pPr algn="l"/>
            <a:r>
              <a:rPr sz="1400">
                <a:solidFill>
                  <a:srgbClr val="000000"/>
                </a:solidFill>
              </a:rPr>
              <a:t>• Resize all images to 300×300 pixels</a:t>
            </a:r>
          </a:p>
          <a:p>
            <a:pPr algn="l"/>
            <a:r>
              <a:rPr sz="1400">
                <a:solidFill>
                  <a:srgbClr val="000000"/>
                </a:solidFill>
              </a:rPr>
              <a:t>• Normalize using ImageNet mean/std</a:t>
            </a:r>
          </a:p>
          <a:p>
            <a:pPr algn="l"/>
            <a:r>
              <a:rPr sz="1400">
                <a:solidFill>
                  <a:srgbClr val="000000"/>
                </a:solidFill>
              </a:rPr>
              <a:t>  (mean=[0.485,0.456,0.406], std=[0.229,0.224,0.225])</a:t>
            </a:r>
          </a:p>
          <a:p>
            <a:pPr algn="l"/>
            <a:r>
              <a:rPr sz="1400">
                <a:solidFill>
                  <a:srgbClr val="000000"/>
                </a:solidFill>
              </a:rPr>
              <a:t>• Convert to tensor format for PyTorch</a:t>
            </a:r>
          </a:p>
        </p:txBody>
      </p:sp>
      <p:sp>
        <p:nvSpPr>
          <p:cNvPr id="6" name="TextBox 5"/>
          <p:cNvSpPr txBox="1"/>
          <p:nvPr/>
        </p:nvSpPr>
        <p:spPr>
          <a:xfrm>
            <a:off x="457200" y="3383280"/>
            <a:ext cx="5486400" cy="365760"/>
          </a:xfrm>
          <a:prstGeom prst="rect">
            <a:avLst/>
          </a:prstGeom>
          <a:noFill/>
        </p:spPr>
        <p:txBody>
          <a:bodyPr wrap="square">
            <a:spAutoFit/>
          </a:bodyPr>
          <a:lstStyle/>
          <a:p>
            <a:pPr algn="l"/>
            <a:r>
              <a:rPr sz="1700" b="1">
                <a:solidFill>
                  <a:srgbClr val="000000"/>
                </a:solidFill>
              </a:rPr>
              <a:t>Augmentation Techniques</a:t>
            </a:r>
          </a:p>
        </p:txBody>
      </p:sp>
      <p:sp>
        <p:nvSpPr>
          <p:cNvPr id="7" name="TextBox 6"/>
          <p:cNvSpPr txBox="1"/>
          <p:nvPr/>
        </p:nvSpPr>
        <p:spPr>
          <a:xfrm>
            <a:off x="457200" y="3749039"/>
            <a:ext cx="5486400" cy="2834640"/>
          </a:xfrm>
          <a:prstGeom prst="rect">
            <a:avLst/>
          </a:prstGeom>
          <a:noFill/>
        </p:spPr>
        <p:txBody>
          <a:bodyPr wrap="square">
            <a:spAutoFit/>
          </a:bodyPr>
          <a:lstStyle/>
          <a:p>
            <a:pPr algn="l"/>
            <a:r>
              <a:rPr sz="1400">
                <a:solidFill>
                  <a:srgbClr val="000000"/>
                </a:solidFill>
              </a:rPr>
              <a:t>• Random horizontal &amp; vertical flip</a:t>
            </a:r>
          </a:p>
          <a:p>
            <a:pPr algn="l"/>
            <a:r>
              <a:rPr sz="1400">
                <a:solidFill>
                  <a:srgbClr val="000000"/>
                </a:solidFill>
              </a:rPr>
              <a:t>• Random rotation (±30°)</a:t>
            </a:r>
          </a:p>
          <a:p>
            <a:pPr algn="l"/>
            <a:r>
              <a:rPr sz="1400">
                <a:solidFill>
                  <a:srgbClr val="000000"/>
                </a:solidFill>
              </a:rPr>
              <a:t>• Colour jittering (brightness, contrast, saturation, hue)</a:t>
            </a:r>
          </a:p>
          <a:p>
            <a:pPr algn="l"/>
            <a:r>
              <a:rPr sz="1400">
                <a:solidFill>
                  <a:srgbClr val="000000"/>
                </a:solidFill>
              </a:rPr>
              <a:t>• Random crop &amp; affine scaling (0.85–1.15×)</a:t>
            </a:r>
          </a:p>
          <a:p>
            <a:pPr algn="l"/>
            <a:r>
              <a:rPr sz="1400">
                <a:solidFill>
                  <a:srgbClr val="000000"/>
                </a:solidFill>
              </a:rPr>
              <a:t>• Gaussian blur (simulate low-quality cameras)</a:t>
            </a:r>
          </a:p>
          <a:p>
            <a:pPr algn="l"/>
            <a:r>
              <a:rPr sz="1400">
                <a:solidFill>
                  <a:srgbClr val="000000"/>
                </a:solidFill>
              </a:rPr>
              <a:t>• Random perspective transformation</a:t>
            </a:r>
          </a:p>
          <a:p>
            <a:pPr algn="l"/>
            <a:r>
              <a:rPr sz="1400">
                <a:solidFill>
                  <a:srgbClr val="000000"/>
                </a:solidFill>
              </a:rPr>
              <a:t>• Random erasing / Cutout</a:t>
            </a:r>
          </a:p>
        </p:txBody>
      </p:sp>
      <p:sp>
        <p:nvSpPr>
          <p:cNvPr id="8" name="TextBox 7"/>
          <p:cNvSpPr txBox="1"/>
          <p:nvPr/>
        </p:nvSpPr>
        <p:spPr>
          <a:xfrm>
            <a:off x="6400800" y="1097280"/>
            <a:ext cx="5486400" cy="365760"/>
          </a:xfrm>
          <a:prstGeom prst="rect">
            <a:avLst/>
          </a:prstGeom>
          <a:noFill/>
        </p:spPr>
        <p:txBody>
          <a:bodyPr wrap="square">
            <a:spAutoFit/>
          </a:bodyPr>
          <a:lstStyle/>
          <a:p>
            <a:pPr algn="l"/>
            <a:r>
              <a:rPr sz="1700" b="1">
                <a:solidFill>
                  <a:srgbClr val="000000"/>
                </a:solidFill>
              </a:rPr>
              <a:t>Augmentation Pipeline</a:t>
            </a:r>
          </a:p>
        </p:txBody>
      </p:sp>
      <p:sp>
        <p:nvSpPr>
          <p:cNvPr id="9" name="Rectangle 8"/>
          <p:cNvSpPr/>
          <p:nvPr/>
        </p:nvSpPr>
        <p:spPr>
          <a:xfrm>
            <a:off x="7772400" y="1554480"/>
            <a:ext cx="2743200" cy="420624"/>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0">
                <a:solidFill>
                  <a:srgbClr val="000000"/>
                </a:solidFill>
              </a:rPr>
              <a:t>Input Image</a:t>
            </a:r>
          </a:p>
        </p:txBody>
      </p:sp>
      <p:cxnSp>
        <p:nvCxnSpPr>
          <p:cNvPr id="10" name="Connector 9"/>
          <p:cNvCxnSpPr/>
          <p:nvPr/>
        </p:nvCxnSpPr>
        <p:spPr>
          <a:xfrm>
            <a:off x="9144000" y="1975104"/>
            <a:ext cx="0" cy="109728"/>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7772400" y="2084832"/>
            <a:ext cx="2743200" cy="420624"/>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0">
                <a:solidFill>
                  <a:srgbClr val="000000"/>
                </a:solidFill>
              </a:rPr>
              <a:t>Resize (332)</a:t>
            </a:r>
          </a:p>
        </p:txBody>
      </p:sp>
      <p:cxnSp>
        <p:nvCxnSpPr>
          <p:cNvPr id="12" name="Connector 11"/>
          <p:cNvCxnSpPr/>
          <p:nvPr/>
        </p:nvCxnSpPr>
        <p:spPr>
          <a:xfrm>
            <a:off x="9144000" y="2505456"/>
            <a:ext cx="0" cy="109728"/>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7772400" y="2615184"/>
            <a:ext cx="2743200" cy="420624"/>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0">
                <a:solidFill>
                  <a:srgbClr val="000000"/>
                </a:solidFill>
              </a:rPr>
              <a:t>RandomCrop (300)</a:t>
            </a:r>
          </a:p>
        </p:txBody>
      </p:sp>
      <p:cxnSp>
        <p:nvCxnSpPr>
          <p:cNvPr id="14" name="Connector 13"/>
          <p:cNvCxnSpPr/>
          <p:nvPr/>
        </p:nvCxnSpPr>
        <p:spPr>
          <a:xfrm>
            <a:off x="9144000" y="3035808"/>
            <a:ext cx="0" cy="109728"/>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7772400" y="3145536"/>
            <a:ext cx="2743200" cy="420624"/>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0">
                <a:solidFill>
                  <a:srgbClr val="000000"/>
                </a:solidFill>
              </a:rPr>
              <a:t>Flip / Rotate</a:t>
            </a:r>
          </a:p>
        </p:txBody>
      </p:sp>
      <p:cxnSp>
        <p:nvCxnSpPr>
          <p:cNvPr id="16" name="Connector 15"/>
          <p:cNvCxnSpPr/>
          <p:nvPr/>
        </p:nvCxnSpPr>
        <p:spPr>
          <a:xfrm>
            <a:off x="9144000" y="3566160"/>
            <a:ext cx="0" cy="109728"/>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7772400" y="3675888"/>
            <a:ext cx="2743200" cy="420624"/>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0">
                <a:solidFill>
                  <a:srgbClr val="000000"/>
                </a:solidFill>
              </a:rPr>
              <a:t>Colour Jitter</a:t>
            </a:r>
          </a:p>
        </p:txBody>
      </p:sp>
      <p:cxnSp>
        <p:nvCxnSpPr>
          <p:cNvPr id="18" name="Connector 17"/>
          <p:cNvCxnSpPr/>
          <p:nvPr/>
        </p:nvCxnSpPr>
        <p:spPr>
          <a:xfrm>
            <a:off x="9144000" y="4096512"/>
            <a:ext cx="0" cy="109728"/>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7772400" y="4206240"/>
            <a:ext cx="2743200" cy="420624"/>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0">
                <a:solidFill>
                  <a:srgbClr val="000000"/>
                </a:solidFill>
              </a:rPr>
              <a:t>Perspective / Blur</a:t>
            </a:r>
          </a:p>
        </p:txBody>
      </p:sp>
      <p:cxnSp>
        <p:nvCxnSpPr>
          <p:cNvPr id="20" name="Connector 19"/>
          <p:cNvCxnSpPr/>
          <p:nvPr/>
        </p:nvCxnSpPr>
        <p:spPr>
          <a:xfrm>
            <a:off x="9144000" y="4626864"/>
            <a:ext cx="0" cy="109728"/>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7772400" y="4736592"/>
            <a:ext cx="2743200" cy="420624"/>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0">
                <a:solidFill>
                  <a:srgbClr val="000000"/>
                </a:solidFill>
              </a:rPr>
              <a:t>Normalize</a:t>
            </a:r>
          </a:p>
        </p:txBody>
      </p:sp>
      <p:cxnSp>
        <p:nvCxnSpPr>
          <p:cNvPr id="22" name="Connector 21"/>
          <p:cNvCxnSpPr/>
          <p:nvPr/>
        </p:nvCxnSpPr>
        <p:spPr>
          <a:xfrm>
            <a:off x="9144000" y="5157216"/>
            <a:ext cx="0" cy="109728"/>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23" name="Rectangle 22"/>
          <p:cNvSpPr/>
          <p:nvPr/>
        </p:nvSpPr>
        <p:spPr>
          <a:xfrm>
            <a:off x="7772400" y="5266944"/>
            <a:ext cx="2743200" cy="420624"/>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0">
                <a:solidFill>
                  <a:srgbClr val="000000"/>
                </a:solidFill>
              </a:rPr>
              <a:t>Tensor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 y="91440"/>
            <a:ext cx="11795760" cy="822960"/>
          </a:xfrm>
          <a:prstGeom prst="rect">
            <a:avLst/>
          </a:prstGeom>
          <a:noFill/>
        </p:spPr>
        <p:txBody>
          <a:bodyPr wrap="square">
            <a:spAutoFit/>
          </a:bodyPr>
          <a:lstStyle/>
          <a:p>
            <a:pPr algn="ctr"/>
            <a:r>
              <a:rPr sz="2800" b="1">
                <a:solidFill>
                  <a:srgbClr val="000000"/>
                </a:solidFill>
              </a:rPr>
              <a:t>MODEL ARCHITECTURE — EfficientNetB3</a:t>
            </a:r>
          </a:p>
        </p:txBody>
      </p:sp>
      <p:sp>
        <p:nvSpPr>
          <p:cNvPr id="4" name="TextBox 3"/>
          <p:cNvSpPr txBox="1"/>
          <p:nvPr/>
        </p:nvSpPr>
        <p:spPr>
          <a:xfrm>
            <a:off x="457200" y="1097280"/>
            <a:ext cx="5669280" cy="365760"/>
          </a:xfrm>
          <a:prstGeom prst="rect">
            <a:avLst/>
          </a:prstGeom>
          <a:noFill/>
        </p:spPr>
        <p:txBody>
          <a:bodyPr wrap="square">
            <a:spAutoFit/>
          </a:bodyPr>
          <a:lstStyle/>
          <a:p>
            <a:pPr algn="l"/>
            <a:r>
              <a:rPr sz="1700" b="1">
                <a:solidFill>
                  <a:srgbClr val="000000"/>
                </a:solidFill>
              </a:rPr>
              <a:t>Why EfficientNetB3?</a:t>
            </a:r>
          </a:p>
        </p:txBody>
      </p:sp>
      <p:graphicFrame>
        <p:nvGraphicFramePr>
          <p:cNvPr id="5" name="Table 4"/>
          <p:cNvGraphicFramePr>
            <a:graphicFrameLocks noGrp="1"/>
          </p:cNvGraphicFramePr>
          <p:nvPr/>
        </p:nvGraphicFramePr>
        <p:xfrm>
          <a:off x="457200" y="1508760"/>
          <a:ext cx="5943600" cy="2194560"/>
        </p:xfrm>
        <a:graphic>
          <a:graphicData uri="http://schemas.openxmlformats.org/drawingml/2006/table">
            <a:tbl>
              <a:tblPr firstRow="1" bandRow="1">
                <a:tableStyleId>{5C22544A-7EE6-4342-B048-85BDC9FD1C3A}</a:tableStyleId>
              </a:tblPr>
              <a:tblGrid>
                <a:gridCol w="1981200"/>
                <a:gridCol w="1320800"/>
                <a:gridCol w="1320800"/>
                <a:gridCol w="1320800"/>
              </a:tblGrid>
              <a:tr h="365760">
                <a:tc>
                  <a:txBody>
                    <a:bodyPr/>
                    <a:lstStyle/>
                    <a:p>
                      <a:pPr algn="ctr"/>
                      <a:r>
                        <a:rPr sz="1300" b="1">
                          <a:solidFill>
                            <a:srgbClr val="000000"/>
                          </a:solidFill>
                        </a:rPr>
                        <a:t>Model</a:t>
                      </a:r>
                    </a:p>
                  </a:txBody>
                  <a:tcPr>
                    <a:solidFill>
                      <a:srgbClr val="E6E6E6"/>
                    </a:solidFill>
                  </a:tcPr>
                </a:tc>
                <a:tc>
                  <a:txBody>
                    <a:bodyPr/>
                    <a:lstStyle/>
                    <a:p>
                      <a:pPr algn="ctr"/>
                      <a:r>
                        <a:rPr sz="1300" b="1">
                          <a:solidFill>
                            <a:srgbClr val="000000"/>
                          </a:solidFill>
                        </a:rPr>
                        <a:t>ImageNet Acc.</a:t>
                      </a:r>
                    </a:p>
                  </a:txBody>
                  <a:tcPr>
                    <a:solidFill>
                      <a:srgbClr val="E6E6E6"/>
                    </a:solidFill>
                  </a:tcPr>
                </a:tc>
                <a:tc>
                  <a:txBody>
                    <a:bodyPr/>
                    <a:lstStyle/>
                    <a:p>
                      <a:pPr algn="ctr"/>
                      <a:r>
                        <a:rPr sz="1300" b="1">
                          <a:solidFill>
                            <a:srgbClr val="000000"/>
                          </a:solidFill>
                        </a:rPr>
                        <a:t>Params</a:t>
                      </a:r>
                    </a:p>
                  </a:txBody>
                  <a:tcPr>
                    <a:solidFill>
                      <a:srgbClr val="E6E6E6"/>
                    </a:solidFill>
                  </a:tcPr>
                </a:tc>
                <a:tc>
                  <a:txBody>
                    <a:bodyPr/>
                    <a:lstStyle/>
                    <a:p>
                      <a:pPr algn="ctr"/>
                      <a:r>
                        <a:rPr sz="1300" b="1">
                          <a:solidFill>
                            <a:srgbClr val="000000"/>
                          </a:solidFill>
                        </a:rPr>
                        <a:t>Speed</a:t>
                      </a:r>
                    </a:p>
                  </a:txBody>
                  <a:tcPr>
                    <a:solidFill>
                      <a:srgbClr val="E6E6E6"/>
                    </a:solidFill>
                  </a:tcPr>
                </a:tc>
              </a:tr>
              <a:tr h="365760">
                <a:tc>
                  <a:txBody>
                    <a:bodyPr/>
                    <a:lstStyle/>
                    <a:p>
                      <a:pPr algn="ctr"/>
                      <a:r>
                        <a:rPr sz="1300" b="0">
                          <a:solidFill>
                            <a:srgbClr val="000000"/>
                          </a:solidFill>
                        </a:rPr>
                        <a:t>MobileNetV2</a:t>
                      </a:r>
                    </a:p>
                  </a:txBody>
                  <a:tcPr>
                    <a:solidFill>
                      <a:srgbClr val="FFFFFF"/>
                    </a:solidFill>
                  </a:tcPr>
                </a:tc>
                <a:tc>
                  <a:txBody>
                    <a:bodyPr/>
                    <a:lstStyle/>
                    <a:p>
                      <a:pPr algn="ctr"/>
                      <a:r>
                        <a:rPr sz="1300" b="0">
                          <a:solidFill>
                            <a:srgbClr val="000000"/>
                          </a:solidFill>
                        </a:rPr>
                        <a:t>72.0%</a:t>
                      </a:r>
                    </a:p>
                  </a:txBody>
                  <a:tcPr>
                    <a:solidFill>
                      <a:srgbClr val="FFFFFF"/>
                    </a:solidFill>
                  </a:tcPr>
                </a:tc>
                <a:tc>
                  <a:txBody>
                    <a:bodyPr/>
                    <a:lstStyle/>
                    <a:p>
                      <a:pPr algn="ctr"/>
                      <a:r>
                        <a:rPr sz="1300" b="0">
                          <a:solidFill>
                            <a:srgbClr val="000000"/>
                          </a:solidFill>
                        </a:rPr>
                        <a:t>3.4M</a:t>
                      </a:r>
                    </a:p>
                  </a:txBody>
                  <a:tcPr>
                    <a:solidFill>
                      <a:srgbClr val="FFFFFF"/>
                    </a:solidFill>
                  </a:tcPr>
                </a:tc>
                <a:tc>
                  <a:txBody>
                    <a:bodyPr/>
                    <a:lstStyle/>
                    <a:p>
                      <a:pPr algn="ctr"/>
                      <a:r>
                        <a:rPr sz="1300" b="0">
                          <a:solidFill>
                            <a:srgbClr val="000000"/>
                          </a:solidFill>
                        </a:rPr>
                        <a:t>Very Fast</a:t>
                      </a:r>
                    </a:p>
                  </a:txBody>
                  <a:tcPr>
                    <a:solidFill>
                      <a:srgbClr val="FFFFFF"/>
                    </a:solidFill>
                  </a:tcPr>
                </a:tc>
              </a:tr>
              <a:tr h="365760">
                <a:tc>
                  <a:txBody>
                    <a:bodyPr/>
                    <a:lstStyle/>
                    <a:p>
                      <a:pPr algn="ctr"/>
                      <a:r>
                        <a:rPr sz="1300" b="0">
                          <a:solidFill>
                            <a:srgbClr val="000000"/>
                          </a:solidFill>
                        </a:rPr>
                        <a:t>EfficientNetB0</a:t>
                      </a:r>
                    </a:p>
                  </a:txBody>
                  <a:tcPr>
                    <a:solidFill>
                      <a:srgbClr val="FFFFFF"/>
                    </a:solidFill>
                  </a:tcPr>
                </a:tc>
                <a:tc>
                  <a:txBody>
                    <a:bodyPr/>
                    <a:lstStyle/>
                    <a:p>
                      <a:pPr algn="ctr"/>
                      <a:r>
                        <a:rPr sz="1300" b="0">
                          <a:solidFill>
                            <a:srgbClr val="000000"/>
                          </a:solidFill>
                        </a:rPr>
                        <a:t>77.1%</a:t>
                      </a:r>
                    </a:p>
                  </a:txBody>
                  <a:tcPr>
                    <a:solidFill>
                      <a:srgbClr val="FFFFFF"/>
                    </a:solidFill>
                  </a:tcPr>
                </a:tc>
                <a:tc>
                  <a:txBody>
                    <a:bodyPr/>
                    <a:lstStyle/>
                    <a:p>
                      <a:pPr algn="ctr"/>
                      <a:r>
                        <a:rPr sz="1300" b="0">
                          <a:solidFill>
                            <a:srgbClr val="000000"/>
                          </a:solidFill>
                        </a:rPr>
                        <a:t>5.3M</a:t>
                      </a:r>
                    </a:p>
                  </a:txBody>
                  <a:tcPr>
                    <a:solidFill>
                      <a:srgbClr val="FFFFFF"/>
                    </a:solidFill>
                  </a:tcPr>
                </a:tc>
                <a:tc>
                  <a:txBody>
                    <a:bodyPr/>
                    <a:lstStyle/>
                    <a:p>
                      <a:pPr algn="ctr"/>
                      <a:r>
                        <a:rPr sz="1300" b="0">
                          <a:solidFill>
                            <a:srgbClr val="000000"/>
                          </a:solidFill>
                        </a:rPr>
                        <a:t>Fast</a:t>
                      </a:r>
                    </a:p>
                  </a:txBody>
                  <a:tcPr>
                    <a:solidFill>
                      <a:srgbClr val="FFFFFF"/>
                    </a:solidFill>
                  </a:tcPr>
                </a:tc>
              </a:tr>
              <a:tr h="365760">
                <a:tc>
                  <a:txBody>
                    <a:bodyPr/>
                    <a:lstStyle/>
                    <a:p>
                      <a:pPr algn="ctr"/>
                      <a:r>
                        <a:rPr sz="1300" b="0">
                          <a:solidFill>
                            <a:srgbClr val="000000"/>
                          </a:solidFill>
                        </a:rPr>
                        <a:t>EfficientNetB3</a:t>
                      </a:r>
                    </a:p>
                  </a:txBody>
                  <a:tcPr>
                    <a:solidFill>
                      <a:srgbClr val="FFFFFF"/>
                    </a:solidFill>
                  </a:tcPr>
                </a:tc>
                <a:tc>
                  <a:txBody>
                    <a:bodyPr/>
                    <a:lstStyle/>
                    <a:p>
                      <a:pPr algn="ctr"/>
                      <a:r>
                        <a:rPr sz="1300" b="0">
                          <a:solidFill>
                            <a:srgbClr val="000000"/>
                          </a:solidFill>
                        </a:rPr>
                        <a:t>81.6%</a:t>
                      </a:r>
                    </a:p>
                  </a:txBody>
                  <a:tcPr>
                    <a:solidFill>
                      <a:srgbClr val="FFFFFF"/>
                    </a:solidFill>
                  </a:tcPr>
                </a:tc>
                <a:tc>
                  <a:txBody>
                    <a:bodyPr/>
                    <a:lstStyle/>
                    <a:p>
                      <a:pPr algn="ctr"/>
                      <a:r>
                        <a:rPr sz="1300" b="0">
                          <a:solidFill>
                            <a:srgbClr val="000000"/>
                          </a:solidFill>
                        </a:rPr>
                        <a:t>12M</a:t>
                      </a:r>
                    </a:p>
                  </a:txBody>
                  <a:tcPr>
                    <a:solidFill>
                      <a:srgbClr val="FFFFFF"/>
                    </a:solidFill>
                  </a:tcPr>
                </a:tc>
                <a:tc>
                  <a:txBody>
                    <a:bodyPr/>
                    <a:lstStyle/>
                    <a:p>
                      <a:pPr algn="ctr"/>
                      <a:r>
                        <a:rPr sz="1300" b="0">
                          <a:solidFill>
                            <a:srgbClr val="000000"/>
                          </a:solidFill>
                        </a:rPr>
                        <a:t>Medium</a:t>
                      </a:r>
                    </a:p>
                  </a:txBody>
                  <a:tcPr>
                    <a:solidFill>
                      <a:srgbClr val="FFFFFF"/>
                    </a:solidFill>
                  </a:tcPr>
                </a:tc>
              </a:tr>
              <a:tr h="365760">
                <a:tc>
                  <a:txBody>
                    <a:bodyPr/>
                    <a:lstStyle/>
                    <a:p>
                      <a:pPr algn="ctr"/>
                      <a:r>
                        <a:rPr sz="1300" b="0">
                          <a:solidFill>
                            <a:srgbClr val="000000"/>
                          </a:solidFill>
                        </a:rPr>
                        <a:t>EfficientNetB7</a:t>
                      </a:r>
                    </a:p>
                  </a:txBody>
                  <a:tcPr>
                    <a:solidFill>
                      <a:srgbClr val="FFFFFF"/>
                    </a:solidFill>
                  </a:tcPr>
                </a:tc>
                <a:tc>
                  <a:txBody>
                    <a:bodyPr/>
                    <a:lstStyle/>
                    <a:p>
                      <a:pPr algn="ctr"/>
                      <a:r>
                        <a:rPr sz="1300" b="0">
                          <a:solidFill>
                            <a:srgbClr val="000000"/>
                          </a:solidFill>
                        </a:rPr>
                        <a:t>84.3%</a:t>
                      </a:r>
                    </a:p>
                  </a:txBody>
                  <a:tcPr>
                    <a:solidFill>
                      <a:srgbClr val="FFFFFF"/>
                    </a:solidFill>
                  </a:tcPr>
                </a:tc>
                <a:tc>
                  <a:txBody>
                    <a:bodyPr/>
                    <a:lstStyle/>
                    <a:p>
                      <a:pPr algn="ctr"/>
                      <a:r>
                        <a:rPr sz="1300" b="0">
                          <a:solidFill>
                            <a:srgbClr val="000000"/>
                          </a:solidFill>
                        </a:rPr>
                        <a:t>66M</a:t>
                      </a:r>
                    </a:p>
                  </a:txBody>
                  <a:tcPr>
                    <a:solidFill>
                      <a:srgbClr val="FFFFFF"/>
                    </a:solidFill>
                  </a:tcPr>
                </a:tc>
                <a:tc>
                  <a:txBody>
                    <a:bodyPr/>
                    <a:lstStyle/>
                    <a:p>
                      <a:pPr algn="ctr"/>
                      <a:r>
                        <a:rPr sz="1300" b="0">
                          <a:solidFill>
                            <a:srgbClr val="000000"/>
                          </a:solidFill>
                        </a:rPr>
                        <a:t>Slow</a:t>
                      </a:r>
                    </a:p>
                  </a:txBody>
                  <a:tcPr>
                    <a:solidFill>
                      <a:srgbClr val="FFFFFF"/>
                    </a:solidFill>
                  </a:tcPr>
                </a:tc>
              </a:tr>
              <a:tr h="365760">
                <a:tc>
                  <a:txBody>
                    <a:bodyPr/>
                    <a:lstStyle/>
                    <a:p>
                      <a:pPr algn="ctr"/>
                      <a:r>
                        <a:rPr sz="1300" b="0">
                          <a:solidFill>
                            <a:srgbClr val="000000"/>
                          </a:solidFill>
                        </a:rPr>
                        <a:t>ResNet50</a:t>
                      </a:r>
                    </a:p>
                  </a:txBody>
                  <a:tcPr>
                    <a:solidFill>
                      <a:srgbClr val="FFFFFF"/>
                    </a:solidFill>
                  </a:tcPr>
                </a:tc>
                <a:tc>
                  <a:txBody>
                    <a:bodyPr/>
                    <a:lstStyle/>
                    <a:p>
                      <a:pPr algn="ctr"/>
                      <a:r>
                        <a:rPr sz="1300" b="0">
                          <a:solidFill>
                            <a:srgbClr val="000000"/>
                          </a:solidFill>
                        </a:rPr>
                        <a:t>76.1%</a:t>
                      </a:r>
                    </a:p>
                  </a:txBody>
                  <a:tcPr>
                    <a:solidFill>
                      <a:srgbClr val="FFFFFF"/>
                    </a:solidFill>
                  </a:tcPr>
                </a:tc>
                <a:tc>
                  <a:txBody>
                    <a:bodyPr/>
                    <a:lstStyle/>
                    <a:p>
                      <a:pPr algn="ctr"/>
                      <a:r>
                        <a:rPr sz="1300" b="0">
                          <a:solidFill>
                            <a:srgbClr val="000000"/>
                          </a:solidFill>
                        </a:rPr>
                        <a:t>25M</a:t>
                      </a:r>
                    </a:p>
                  </a:txBody>
                  <a:tcPr>
                    <a:solidFill>
                      <a:srgbClr val="FFFFFF"/>
                    </a:solidFill>
                  </a:tcPr>
                </a:tc>
                <a:tc>
                  <a:txBody>
                    <a:bodyPr/>
                    <a:lstStyle/>
                    <a:p>
                      <a:pPr algn="ctr"/>
                      <a:r>
                        <a:rPr sz="1300" b="0">
                          <a:solidFill>
                            <a:srgbClr val="000000"/>
                          </a:solidFill>
                        </a:rPr>
                        <a:t>Medium</a:t>
                      </a:r>
                    </a:p>
                  </a:txBody>
                  <a:tcPr>
                    <a:solidFill>
                      <a:srgbClr val="FFFFFF"/>
                    </a:solidFill>
                  </a:tcPr>
                </a:tc>
              </a:tr>
            </a:tbl>
          </a:graphicData>
        </a:graphic>
      </p:graphicFrame>
      <p:sp>
        <p:nvSpPr>
          <p:cNvPr id="6" name="TextBox 5"/>
          <p:cNvSpPr txBox="1"/>
          <p:nvPr/>
        </p:nvSpPr>
        <p:spPr>
          <a:xfrm>
            <a:off x="457200" y="4206240"/>
            <a:ext cx="5943600" cy="320040"/>
          </a:xfrm>
          <a:prstGeom prst="rect">
            <a:avLst/>
          </a:prstGeom>
          <a:noFill/>
        </p:spPr>
        <p:txBody>
          <a:bodyPr wrap="square">
            <a:spAutoFit/>
          </a:bodyPr>
          <a:lstStyle/>
          <a:p>
            <a:pPr algn="l"/>
            <a:r>
              <a:rPr sz="1300" b="0">
                <a:solidFill>
                  <a:srgbClr val="000000"/>
                </a:solidFill>
              </a:rPr>
              <a:t>B3 is the sweet spot — highest accuracy/parameter ratio for real-time use.</a:t>
            </a:r>
          </a:p>
        </p:txBody>
      </p:sp>
      <p:sp>
        <p:nvSpPr>
          <p:cNvPr id="7" name="TextBox 6"/>
          <p:cNvSpPr txBox="1"/>
          <p:nvPr/>
        </p:nvSpPr>
        <p:spPr>
          <a:xfrm>
            <a:off x="6583680" y="1097280"/>
            <a:ext cx="5486400" cy="365760"/>
          </a:xfrm>
          <a:prstGeom prst="rect">
            <a:avLst/>
          </a:prstGeom>
          <a:noFill/>
        </p:spPr>
        <p:txBody>
          <a:bodyPr wrap="square">
            <a:spAutoFit/>
          </a:bodyPr>
          <a:lstStyle/>
          <a:p>
            <a:pPr algn="l"/>
            <a:r>
              <a:rPr sz="1700" b="1">
                <a:solidFill>
                  <a:srgbClr val="000000"/>
                </a:solidFill>
              </a:rPr>
              <a:t>Custom Classification Head</a:t>
            </a:r>
          </a:p>
        </p:txBody>
      </p:sp>
      <p:sp>
        <p:nvSpPr>
          <p:cNvPr id="8" name="Rectangle 7"/>
          <p:cNvSpPr/>
          <p:nvPr/>
        </p:nvSpPr>
        <p:spPr>
          <a:xfrm>
            <a:off x="6766560" y="1508760"/>
            <a:ext cx="5120640" cy="411480"/>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0">
                <a:solidFill>
                  <a:srgbClr val="000000"/>
                </a:solidFill>
              </a:rPr>
              <a:t>Input 300×300×3</a:t>
            </a:r>
          </a:p>
        </p:txBody>
      </p:sp>
      <p:cxnSp>
        <p:nvCxnSpPr>
          <p:cNvPr id="9" name="Connector 8"/>
          <p:cNvCxnSpPr/>
          <p:nvPr/>
        </p:nvCxnSpPr>
        <p:spPr>
          <a:xfrm>
            <a:off x="9326880" y="1920240"/>
            <a:ext cx="0" cy="73152"/>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6766560" y="1993391"/>
            <a:ext cx="5120640" cy="411480"/>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0">
                <a:solidFill>
                  <a:srgbClr val="000000"/>
                </a:solidFill>
              </a:rPr>
              <a:t>EfficientNetB3 Backbone</a:t>
            </a:r>
          </a:p>
        </p:txBody>
      </p:sp>
      <p:cxnSp>
        <p:nvCxnSpPr>
          <p:cNvPr id="11" name="Connector 10"/>
          <p:cNvCxnSpPr/>
          <p:nvPr/>
        </p:nvCxnSpPr>
        <p:spPr>
          <a:xfrm>
            <a:off x="9326880" y="2404872"/>
            <a:ext cx="0" cy="73152"/>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6766560" y="2478024"/>
            <a:ext cx="5120640" cy="411480"/>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0">
                <a:solidFill>
                  <a:srgbClr val="000000"/>
                </a:solidFill>
              </a:rPr>
              <a:t>(MBConv blocks × 7 stages)</a:t>
            </a:r>
          </a:p>
        </p:txBody>
      </p:sp>
      <p:cxnSp>
        <p:nvCxnSpPr>
          <p:cNvPr id="13" name="Connector 12"/>
          <p:cNvCxnSpPr/>
          <p:nvPr/>
        </p:nvCxnSpPr>
        <p:spPr>
          <a:xfrm>
            <a:off x="9326880" y="2889504"/>
            <a:ext cx="0" cy="73152"/>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6766560" y="2962656"/>
            <a:ext cx="5120640" cy="411480"/>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0">
                <a:solidFill>
                  <a:srgbClr val="000000"/>
                </a:solidFill>
              </a:rPr>
              <a:t>Global Average Pooling → 1536-dim</a:t>
            </a:r>
          </a:p>
        </p:txBody>
      </p:sp>
      <p:cxnSp>
        <p:nvCxnSpPr>
          <p:cNvPr id="15" name="Connector 14"/>
          <p:cNvCxnSpPr/>
          <p:nvPr/>
        </p:nvCxnSpPr>
        <p:spPr>
          <a:xfrm>
            <a:off x="9326880" y="3374136"/>
            <a:ext cx="0" cy="73152"/>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6766560" y="3447288"/>
            <a:ext cx="5120640" cy="411480"/>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0">
                <a:solidFill>
                  <a:srgbClr val="000000"/>
                </a:solidFill>
              </a:rPr>
              <a:t>BatchNorm (1536)</a:t>
            </a:r>
          </a:p>
        </p:txBody>
      </p:sp>
      <p:cxnSp>
        <p:nvCxnSpPr>
          <p:cNvPr id="17" name="Connector 16"/>
          <p:cNvCxnSpPr/>
          <p:nvPr/>
        </p:nvCxnSpPr>
        <p:spPr>
          <a:xfrm>
            <a:off x="9326880" y="3858768"/>
            <a:ext cx="0" cy="73152"/>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6766560" y="3931920"/>
            <a:ext cx="5120640" cy="411480"/>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0">
                <a:solidFill>
                  <a:srgbClr val="000000"/>
                </a:solidFill>
              </a:rPr>
              <a:t>Linear 1536→512  +  GELU  +  Dropout 0.4</a:t>
            </a:r>
          </a:p>
        </p:txBody>
      </p:sp>
      <p:cxnSp>
        <p:nvCxnSpPr>
          <p:cNvPr id="19" name="Connector 18"/>
          <p:cNvCxnSpPr/>
          <p:nvPr/>
        </p:nvCxnSpPr>
        <p:spPr>
          <a:xfrm>
            <a:off x="9326880" y="4343400"/>
            <a:ext cx="0" cy="73152"/>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6766560" y="4416552"/>
            <a:ext cx="5120640" cy="411480"/>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0">
                <a:solidFill>
                  <a:srgbClr val="000000"/>
                </a:solidFill>
              </a:rPr>
              <a:t>BatchNorm (512)</a:t>
            </a:r>
          </a:p>
        </p:txBody>
      </p:sp>
      <p:cxnSp>
        <p:nvCxnSpPr>
          <p:cNvPr id="21" name="Connector 20"/>
          <p:cNvCxnSpPr/>
          <p:nvPr/>
        </p:nvCxnSpPr>
        <p:spPr>
          <a:xfrm>
            <a:off x="9326880" y="4828032"/>
            <a:ext cx="0" cy="73152"/>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6766560" y="4901183"/>
            <a:ext cx="5120640" cy="411480"/>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0">
                <a:solidFill>
                  <a:srgbClr val="000000"/>
                </a:solidFill>
              </a:rPr>
              <a:t>Linear 512→256  +  GELU  +  Dropout 0.3</a:t>
            </a:r>
          </a:p>
        </p:txBody>
      </p:sp>
      <p:cxnSp>
        <p:nvCxnSpPr>
          <p:cNvPr id="23" name="Connector 22"/>
          <p:cNvCxnSpPr/>
          <p:nvPr/>
        </p:nvCxnSpPr>
        <p:spPr>
          <a:xfrm>
            <a:off x="9326880" y="5312664"/>
            <a:ext cx="0" cy="73152"/>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6766560" y="5385816"/>
            <a:ext cx="5120640" cy="411480"/>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0">
                <a:solidFill>
                  <a:srgbClr val="000000"/>
                </a:solidFill>
              </a:rPr>
              <a:t>Linear 256→39</a:t>
            </a:r>
          </a:p>
        </p:txBody>
      </p:sp>
      <p:cxnSp>
        <p:nvCxnSpPr>
          <p:cNvPr id="25" name="Connector 24"/>
          <p:cNvCxnSpPr/>
          <p:nvPr/>
        </p:nvCxnSpPr>
        <p:spPr>
          <a:xfrm>
            <a:off x="9326880" y="5797296"/>
            <a:ext cx="0" cy="73152"/>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6766560" y="5870448"/>
            <a:ext cx="5120640" cy="411480"/>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0">
                <a:solidFill>
                  <a:srgbClr val="000000"/>
                </a:solidFill>
              </a:rPr>
              <a:t>Softmax → 39 class probabilities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 y="91440"/>
            <a:ext cx="11795760" cy="822960"/>
          </a:xfrm>
          <a:prstGeom prst="rect">
            <a:avLst/>
          </a:prstGeom>
          <a:noFill/>
        </p:spPr>
        <p:txBody>
          <a:bodyPr wrap="square">
            <a:spAutoFit/>
          </a:bodyPr>
          <a:lstStyle/>
          <a:p>
            <a:pPr algn="ctr"/>
            <a:r>
              <a:rPr sz="2800" b="1">
                <a:solidFill>
                  <a:srgbClr val="000000"/>
                </a:solidFill>
              </a:rPr>
              <a:t>SYSTEM ARCHITECTURE — BLOCK DIAGRAM</a:t>
            </a:r>
          </a:p>
        </p:txBody>
      </p:sp>
      <p:sp>
        <p:nvSpPr>
          <p:cNvPr id="4" name="Rectangle 3"/>
          <p:cNvSpPr/>
          <p:nvPr/>
        </p:nvSpPr>
        <p:spPr>
          <a:xfrm>
            <a:off x="928116" y="1828800"/>
            <a:ext cx="3200400" cy="411480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28116" y="1828800"/>
            <a:ext cx="3200400" cy="548640"/>
          </a:xfrm>
          <a:prstGeom prst="rect">
            <a:avLst/>
          </a:prstGeom>
          <a:solidFill>
            <a:srgbClr val="E6E6E6"/>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000000"/>
                </a:solidFill>
              </a:rPr>
              <a:t>FRONTEND
(User Interface)</a:t>
            </a:r>
          </a:p>
        </p:txBody>
      </p:sp>
      <p:sp>
        <p:nvSpPr>
          <p:cNvPr id="6" name="TextBox 5"/>
          <p:cNvSpPr txBox="1"/>
          <p:nvPr/>
        </p:nvSpPr>
        <p:spPr>
          <a:xfrm>
            <a:off x="1019556" y="2468880"/>
            <a:ext cx="3017520" cy="3383280"/>
          </a:xfrm>
          <a:prstGeom prst="rect">
            <a:avLst/>
          </a:prstGeom>
          <a:noFill/>
        </p:spPr>
        <p:txBody>
          <a:bodyPr wrap="square">
            <a:spAutoFit/>
          </a:bodyPr>
          <a:lstStyle/>
          <a:p>
            <a:pPr algn="l"/>
            <a:r>
              <a:rPr sz="1200">
                <a:solidFill>
                  <a:srgbClr val="000000"/>
                </a:solidFill>
              </a:rPr>
              <a:t>• HTML / CSS / JS</a:t>
            </a:r>
          </a:p>
          <a:p>
            <a:pPr algn="l"/>
            <a:r>
              <a:rPr sz="1200">
                <a:solidFill>
                  <a:srgbClr val="000000"/>
                </a:solidFill>
              </a:rPr>
              <a:t>• Drag-and-drop upload</a:t>
            </a:r>
          </a:p>
          <a:p>
            <a:pPr algn="l"/>
            <a:r>
              <a:rPr sz="1200">
                <a:solidFill>
                  <a:srgbClr val="000000"/>
                </a:solidFill>
              </a:rPr>
              <a:t>• URL-based prediction</a:t>
            </a:r>
          </a:p>
          <a:p>
            <a:pPr algn="l"/>
            <a:r>
              <a:rPr sz="1200">
                <a:solidFill>
                  <a:srgbClr val="000000"/>
                </a:solidFill>
              </a:rPr>
              <a:t>• Confidence bar display</a:t>
            </a:r>
          </a:p>
          <a:p>
            <a:pPr algn="l"/>
            <a:r>
              <a:rPr sz="1200">
                <a:solidFill>
                  <a:srgbClr val="000000"/>
                </a:solidFill>
              </a:rPr>
              <a:t>• Top-5 predictions</a:t>
            </a:r>
          </a:p>
          <a:p>
            <a:pPr algn="l"/>
            <a:r>
              <a:rPr sz="1200">
                <a:solidFill>
                  <a:srgbClr val="000000"/>
                </a:solidFill>
              </a:rPr>
              <a:t>• Severity colour coding</a:t>
            </a:r>
          </a:p>
          <a:p>
            <a:pPr algn="l"/>
            <a:r>
              <a:rPr sz="1200">
                <a:solidFill>
                  <a:srgbClr val="000000"/>
                </a:solidFill>
              </a:rPr>
              <a:t>• Treatment recommendations</a:t>
            </a:r>
          </a:p>
        </p:txBody>
      </p:sp>
      <p:cxnSp>
        <p:nvCxnSpPr>
          <p:cNvPr id="7" name="Connector 6"/>
          <p:cNvCxnSpPr/>
          <p:nvPr/>
        </p:nvCxnSpPr>
        <p:spPr>
          <a:xfrm>
            <a:off x="4128516" y="3886200"/>
            <a:ext cx="365760" cy="0"/>
          </a:xfrm>
          <a:prstGeom prst="line">
            <a:avLst/>
          </a:prstGeom>
          <a:ln w="25400">
            <a:solidFill>
              <a:srgbClr val="000000"/>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128516" y="3657600"/>
            <a:ext cx="365760" cy="365760"/>
          </a:xfrm>
          <a:prstGeom prst="rect">
            <a:avLst/>
          </a:prstGeom>
          <a:noFill/>
        </p:spPr>
        <p:txBody>
          <a:bodyPr wrap="square">
            <a:spAutoFit/>
          </a:bodyPr>
          <a:lstStyle/>
          <a:p>
            <a:pPr algn="ctr"/>
            <a:r>
              <a:rPr sz="1800" b="0">
                <a:solidFill>
                  <a:srgbClr val="000000"/>
                </a:solidFill>
              </a:rPr>
              <a:t>↔</a:t>
            </a:r>
          </a:p>
        </p:txBody>
      </p:sp>
      <p:sp>
        <p:nvSpPr>
          <p:cNvPr id="9" name="Rectangle 8"/>
          <p:cNvSpPr/>
          <p:nvPr/>
        </p:nvSpPr>
        <p:spPr>
          <a:xfrm>
            <a:off x="4494276" y="1828800"/>
            <a:ext cx="3200400" cy="411480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494276" y="1828800"/>
            <a:ext cx="3200400" cy="548640"/>
          </a:xfrm>
          <a:prstGeom prst="rect">
            <a:avLst/>
          </a:prstGeom>
          <a:solidFill>
            <a:srgbClr val="E6E6E6"/>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000000"/>
                </a:solidFill>
              </a:rPr>
              <a:t>BACKEND
(Flask REST API)</a:t>
            </a:r>
          </a:p>
        </p:txBody>
      </p:sp>
      <p:sp>
        <p:nvSpPr>
          <p:cNvPr id="11" name="TextBox 10"/>
          <p:cNvSpPr txBox="1"/>
          <p:nvPr/>
        </p:nvSpPr>
        <p:spPr>
          <a:xfrm>
            <a:off x="4585716" y="2468880"/>
            <a:ext cx="3017520" cy="3383280"/>
          </a:xfrm>
          <a:prstGeom prst="rect">
            <a:avLst/>
          </a:prstGeom>
          <a:noFill/>
        </p:spPr>
        <p:txBody>
          <a:bodyPr wrap="square">
            <a:spAutoFit/>
          </a:bodyPr>
          <a:lstStyle/>
          <a:p>
            <a:pPr algn="l"/>
            <a:r>
              <a:rPr sz="1200">
                <a:solidFill>
                  <a:srgbClr val="000000"/>
                </a:solidFill>
              </a:rPr>
              <a:t>• POST /api/predict</a:t>
            </a:r>
          </a:p>
          <a:p>
            <a:pPr algn="l"/>
            <a:r>
              <a:rPr sz="1200">
                <a:solidFill>
                  <a:srgbClr val="000000"/>
                </a:solidFill>
              </a:rPr>
              <a:t>• POST /api/predict-url</a:t>
            </a:r>
          </a:p>
          <a:p>
            <a:pPr algn="l"/>
            <a:r>
              <a:rPr sz="1200">
                <a:solidFill>
                  <a:srgbClr val="000000"/>
                </a:solidFill>
              </a:rPr>
              <a:t>• POST /api/predict-base64</a:t>
            </a:r>
          </a:p>
          <a:p>
            <a:pPr algn="l"/>
            <a:r>
              <a:rPr sz="1200">
                <a:solidFill>
                  <a:srgbClr val="000000"/>
                </a:solidFill>
              </a:rPr>
              <a:t>• GET  /api/health</a:t>
            </a:r>
          </a:p>
          <a:p>
            <a:pPr algn="l"/>
            <a:r>
              <a:rPr sz="1200">
                <a:solidFill>
                  <a:srgbClr val="000000"/>
                </a:solidFill>
              </a:rPr>
              <a:t>• GET  /api/classes</a:t>
            </a:r>
          </a:p>
          <a:p>
            <a:pPr algn="l"/>
            <a:r>
              <a:rPr sz="1200">
                <a:solidFill>
                  <a:srgbClr val="000000"/>
                </a:solidFill>
              </a:rPr>
              <a:t/>
            </a:r>
          </a:p>
          <a:p>
            <a:pPr algn="l"/>
            <a:r>
              <a:rPr sz="1200">
                <a:solidFill>
                  <a:srgbClr val="000000"/>
                </a:solidFill>
              </a:rPr>
              <a:t>• Model loaded once at startup</a:t>
            </a:r>
          </a:p>
          <a:p>
            <a:pPr algn="l"/>
            <a:r>
              <a:rPr sz="1200">
                <a:solidFill>
                  <a:srgbClr val="000000"/>
                </a:solidFill>
              </a:rPr>
              <a:t>• 20–50 ms inference on GPU</a:t>
            </a:r>
          </a:p>
        </p:txBody>
      </p:sp>
      <p:cxnSp>
        <p:nvCxnSpPr>
          <p:cNvPr id="12" name="Connector 11"/>
          <p:cNvCxnSpPr/>
          <p:nvPr/>
        </p:nvCxnSpPr>
        <p:spPr>
          <a:xfrm>
            <a:off x="7694675" y="3886200"/>
            <a:ext cx="365761" cy="0"/>
          </a:xfrm>
          <a:prstGeom prst="line">
            <a:avLst/>
          </a:prstGeom>
          <a:ln w="25400">
            <a:solidFill>
              <a:srgbClr val="000000"/>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7694675" y="3657600"/>
            <a:ext cx="365760" cy="365760"/>
          </a:xfrm>
          <a:prstGeom prst="rect">
            <a:avLst/>
          </a:prstGeom>
          <a:noFill/>
        </p:spPr>
        <p:txBody>
          <a:bodyPr wrap="square">
            <a:spAutoFit/>
          </a:bodyPr>
          <a:lstStyle/>
          <a:p>
            <a:pPr algn="ctr"/>
            <a:r>
              <a:rPr sz="1800" b="0">
                <a:solidFill>
                  <a:srgbClr val="000000"/>
                </a:solidFill>
              </a:rPr>
              <a:t>↔</a:t>
            </a:r>
          </a:p>
        </p:txBody>
      </p:sp>
      <p:sp>
        <p:nvSpPr>
          <p:cNvPr id="14" name="Rectangle 13"/>
          <p:cNvSpPr/>
          <p:nvPr/>
        </p:nvSpPr>
        <p:spPr>
          <a:xfrm>
            <a:off x="8060436" y="1828800"/>
            <a:ext cx="3200400" cy="411480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60436" y="1828800"/>
            <a:ext cx="3200400" cy="548640"/>
          </a:xfrm>
          <a:prstGeom prst="rect">
            <a:avLst/>
          </a:prstGeom>
          <a:solidFill>
            <a:srgbClr val="E6E6E6"/>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000000"/>
                </a:solidFill>
              </a:rPr>
              <a:t>ML MODEL
(EfficientNetB3)</a:t>
            </a:r>
          </a:p>
        </p:txBody>
      </p:sp>
      <p:sp>
        <p:nvSpPr>
          <p:cNvPr id="16" name="TextBox 15"/>
          <p:cNvSpPr txBox="1"/>
          <p:nvPr/>
        </p:nvSpPr>
        <p:spPr>
          <a:xfrm>
            <a:off x="8151875" y="2468880"/>
            <a:ext cx="3017520" cy="3383280"/>
          </a:xfrm>
          <a:prstGeom prst="rect">
            <a:avLst/>
          </a:prstGeom>
          <a:noFill/>
        </p:spPr>
        <p:txBody>
          <a:bodyPr wrap="square">
            <a:spAutoFit/>
          </a:bodyPr>
          <a:lstStyle/>
          <a:p>
            <a:pPr algn="l"/>
            <a:r>
              <a:rPr sz="1200">
                <a:solidFill>
                  <a:srgbClr val="000000"/>
                </a:solidFill>
              </a:rPr>
              <a:t>• Backbone: MBConv×7</a:t>
            </a:r>
          </a:p>
          <a:p>
            <a:pPr algn="l"/>
            <a:r>
              <a:rPr sz="1200">
                <a:solidFill>
                  <a:srgbClr val="000000"/>
                </a:solidFill>
              </a:rPr>
              <a:t>• Custom head: FC 512→256→39</a:t>
            </a:r>
          </a:p>
          <a:p>
            <a:pPr algn="l"/>
            <a:r>
              <a:rPr sz="1200">
                <a:solidFill>
                  <a:srgbClr val="000000"/>
                </a:solidFill>
              </a:rPr>
              <a:t>• 3-layer not-a-leaf detection</a:t>
            </a:r>
          </a:p>
          <a:p>
            <a:pPr algn="l"/>
            <a:r>
              <a:rPr sz="1200">
                <a:solidFill>
                  <a:srgbClr val="000000"/>
                </a:solidFill>
              </a:rPr>
              <a:t>• Softmax probabilities</a:t>
            </a:r>
          </a:p>
          <a:p>
            <a:pPr algn="l"/>
            <a:r>
              <a:rPr sz="1200">
                <a:solidFill>
                  <a:srgbClr val="000000"/>
                </a:solidFill>
              </a:rPr>
              <a:t>• 39 disease classes</a:t>
            </a:r>
          </a:p>
          <a:p>
            <a:pPr algn="l"/>
            <a:r>
              <a:rPr sz="1200">
                <a:solidFill>
                  <a:srgbClr val="000000"/>
                </a:solidFill>
              </a:rPr>
              <a:t/>
            </a:r>
          </a:p>
          <a:p>
            <a:pPr algn="l"/>
            <a:r>
              <a:rPr sz="1200">
                <a:solidFill>
                  <a:srgbClr val="000000"/>
                </a:solidFill>
              </a:rPr>
              <a:t>• Model file: ~48 MB</a:t>
            </a:r>
          </a:p>
          <a:p>
            <a:pPr algn="l"/>
            <a:r>
              <a:rPr sz="1200">
                <a:solidFill>
                  <a:srgbClr val="000000"/>
                </a:solidFill>
              </a:rPr>
              <a:t>• 94–96% test accuracy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 y="91440"/>
            <a:ext cx="11795760" cy="822960"/>
          </a:xfrm>
          <a:prstGeom prst="rect">
            <a:avLst/>
          </a:prstGeom>
          <a:noFill/>
        </p:spPr>
        <p:txBody>
          <a:bodyPr wrap="square">
            <a:spAutoFit/>
          </a:bodyPr>
          <a:lstStyle/>
          <a:p>
            <a:pPr algn="ctr"/>
            <a:r>
              <a:rPr sz="2800" b="1">
                <a:solidFill>
                  <a:srgbClr val="000000"/>
                </a:solidFill>
              </a:rPr>
              <a:t>THREE-PHASE TRAINING STRATEGY</a:t>
            </a:r>
          </a:p>
        </p:txBody>
      </p:sp>
      <p:sp>
        <p:nvSpPr>
          <p:cNvPr id="4" name="Rectangle 3"/>
          <p:cNvSpPr/>
          <p:nvPr/>
        </p:nvSpPr>
        <p:spPr>
          <a:xfrm>
            <a:off x="365760" y="1371600"/>
            <a:ext cx="3566160" cy="594360"/>
          </a:xfrm>
          <a:prstGeom prst="rect">
            <a:avLst/>
          </a:prstGeom>
          <a:solidFill>
            <a:srgbClr val="E6E6E6"/>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000000"/>
                </a:solidFill>
              </a:rPr>
              <a:t>Phase 1
Head Training</a:t>
            </a:r>
          </a:p>
        </p:txBody>
      </p:sp>
      <p:sp>
        <p:nvSpPr>
          <p:cNvPr id="5" name="Rectangle 4"/>
          <p:cNvSpPr/>
          <p:nvPr/>
        </p:nvSpPr>
        <p:spPr>
          <a:xfrm>
            <a:off x="365760" y="1965960"/>
            <a:ext cx="3566160" cy="3794759"/>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057400"/>
            <a:ext cx="3383279" cy="3657600"/>
          </a:xfrm>
          <a:prstGeom prst="rect">
            <a:avLst/>
          </a:prstGeom>
          <a:noFill/>
        </p:spPr>
        <p:txBody>
          <a:bodyPr wrap="square">
            <a:spAutoFit/>
          </a:bodyPr>
          <a:lstStyle/>
          <a:p>
            <a:pPr algn="l"/>
            <a:r>
              <a:rPr sz="1400" b="0">
                <a:solidFill>
                  <a:srgbClr val="000000"/>
                </a:solidFill>
              </a:rPr>
              <a:t>Backbone: FROZEN
Only custom classification head trained.
Prevents destroying pretrained ImageNet features.
Fast convergence.</a:t>
            </a:r>
          </a:p>
        </p:txBody>
      </p:sp>
      <p:sp>
        <p:nvSpPr>
          <p:cNvPr id="7" name="TextBox 6"/>
          <p:cNvSpPr txBox="1"/>
          <p:nvPr/>
        </p:nvSpPr>
        <p:spPr>
          <a:xfrm>
            <a:off x="3931920" y="3337560"/>
            <a:ext cx="274320" cy="457200"/>
          </a:xfrm>
          <a:prstGeom prst="rect">
            <a:avLst/>
          </a:prstGeom>
          <a:noFill/>
        </p:spPr>
        <p:txBody>
          <a:bodyPr wrap="square">
            <a:spAutoFit/>
          </a:bodyPr>
          <a:lstStyle/>
          <a:p>
            <a:pPr algn="ctr"/>
            <a:r>
              <a:rPr sz="2000" b="0">
                <a:solidFill>
                  <a:srgbClr val="000000"/>
                </a:solidFill>
              </a:rPr>
              <a:t>→</a:t>
            </a:r>
          </a:p>
        </p:txBody>
      </p:sp>
      <p:sp>
        <p:nvSpPr>
          <p:cNvPr id="8" name="Rectangle 7"/>
          <p:cNvSpPr/>
          <p:nvPr/>
        </p:nvSpPr>
        <p:spPr>
          <a:xfrm>
            <a:off x="4206240" y="1371600"/>
            <a:ext cx="3566160" cy="594360"/>
          </a:xfrm>
          <a:prstGeom prst="rect">
            <a:avLst/>
          </a:prstGeom>
          <a:solidFill>
            <a:srgbClr val="E6E6E6"/>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000000"/>
                </a:solidFill>
              </a:rPr>
              <a:t>Phase 2
Partial Fine-Tuning</a:t>
            </a:r>
          </a:p>
        </p:txBody>
      </p:sp>
      <p:sp>
        <p:nvSpPr>
          <p:cNvPr id="9" name="Rectangle 8"/>
          <p:cNvSpPr/>
          <p:nvPr/>
        </p:nvSpPr>
        <p:spPr>
          <a:xfrm>
            <a:off x="4206240" y="1965960"/>
            <a:ext cx="3566160" cy="3794759"/>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97680" y="2057400"/>
            <a:ext cx="3383279" cy="3657600"/>
          </a:xfrm>
          <a:prstGeom prst="rect">
            <a:avLst/>
          </a:prstGeom>
          <a:noFill/>
        </p:spPr>
        <p:txBody>
          <a:bodyPr wrap="square">
            <a:spAutoFit/>
          </a:bodyPr>
          <a:lstStyle/>
          <a:p>
            <a:pPr algn="l"/>
            <a:r>
              <a:rPr sz="1400" b="0">
                <a:solidFill>
                  <a:srgbClr val="000000"/>
                </a:solidFill>
              </a:rPr>
              <a:t>Last 30 backbone layers: UNFROZEN
High-level feature extractors adapt to
leaf textures and disease patterns.
Lower layers stay frozen.</a:t>
            </a:r>
          </a:p>
        </p:txBody>
      </p:sp>
      <p:sp>
        <p:nvSpPr>
          <p:cNvPr id="11" name="TextBox 10"/>
          <p:cNvSpPr txBox="1"/>
          <p:nvPr/>
        </p:nvSpPr>
        <p:spPr>
          <a:xfrm>
            <a:off x="7772400" y="3337560"/>
            <a:ext cx="274320" cy="457200"/>
          </a:xfrm>
          <a:prstGeom prst="rect">
            <a:avLst/>
          </a:prstGeom>
          <a:noFill/>
        </p:spPr>
        <p:txBody>
          <a:bodyPr wrap="square">
            <a:spAutoFit/>
          </a:bodyPr>
          <a:lstStyle/>
          <a:p>
            <a:pPr algn="ctr"/>
            <a:r>
              <a:rPr sz="2000" b="0">
                <a:solidFill>
                  <a:srgbClr val="000000"/>
                </a:solidFill>
              </a:rPr>
              <a:t>→</a:t>
            </a:r>
          </a:p>
        </p:txBody>
      </p:sp>
      <p:sp>
        <p:nvSpPr>
          <p:cNvPr id="12" name="Rectangle 11"/>
          <p:cNvSpPr/>
          <p:nvPr/>
        </p:nvSpPr>
        <p:spPr>
          <a:xfrm>
            <a:off x="8046720" y="1371600"/>
            <a:ext cx="3566160" cy="594360"/>
          </a:xfrm>
          <a:prstGeom prst="rect">
            <a:avLst/>
          </a:prstGeom>
          <a:solidFill>
            <a:srgbClr val="E6E6E6"/>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000000"/>
                </a:solidFill>
              </a:rPr>
              <a:t>Phase 3
Full Fine-Tuning</a:t>
            </a:r>
          </a:p>
        </p:txBody>
      </p:sp>
      <p:sp>
        <p:nvSpPr>
          <p:cNvPr id="13" name="Rectangle 12"/>
          <p:cNvSpPr/>
          <p:nvPr/>
        </p:nvSpPr>
        <p:spPr>
          <a:xfrm>
            <a:off x="8046720" y="1965960"/>
            <a:ext cx="3566160" cy="3794759"/>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38160" y="2057400"/>
            <a:ext cx="3383279" cy="3657600"/>
          </a:xfrm>
          <a:prstGeom prst="rect">
            <a:avLst/>
          </a:prstGeom>
          <a:noFill/>
        </p:spPr>
        <p:txBody>
          <a:bodyPr wrap="square">
            <a:spAutoFit/>
          </a:bodyPr>
          <a:lstStyle/>
          <a:p>
            <a:pPr algn="l"/>
            <a:r>
              <a:rPr sz="1400" b="0">
                <a:solidFill>
                  <a:srgbClr val="000000"/>
                </a:solidFill>
              </a:rPr>
              <a:t>Entire model: UNFROZEN
Very low LR (5e-5).
Small, careful adjustments — polishes
without catastrophic forgetting.</a:t>
            </a:r>
          </a:p>
        </p:txBody>
      </p:sp>
      <p:sp>
        <p:nvSpPr>
          <p:cNvPr id="15" name="TextBox 14"/>
          <p:cNvSpPr txBox="1"/>
          <p:nvPr/>
        </p:nvSpPr>
        <p:spPr>
          <a:xfrm>
            <a:off x="365760" y="5852160"/>
            <a:ext cx="11430000" cy="365760"/>
          </a:xfrm>
          <a:prstGeom prst="rect">
            <a:avLst/>
          </a:prstGeom>
          <a:noFill/>
        </p:spPr>
        <p:txBody>
          <a:bodyPr wrap="square">
            <a:spAutoFit/>
          </a:bodyPr>
          <a:lstStyle/>
          <a:p>
            <a:pPr algn="ctr"/>
            <a:r>
              <a:rPr sz="1300" b="0">
                <a:solidFill>
                  <a:srgbClr val="000000"/>
                </a:solidFill>
              </a:rPr>
              <a:t>OneCycleLR Scheduler: LR ramps up → cosine-anneals down → near-zero   |   Gradient Clipping (max_norm=1.0)   |   Mixed Precision (float16 on GPU)</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 y="91440"/>
            <a:ext cx="11795760" cy="822960"/>
          </a:xfrm>
          <a:prstGeom prst="rect">
            <a:avLst/>
          </a:prstGeom>
          <a:noFill/>
        </p:spPr>
        <p:txBody>
          <a:bodyPr wrap="square">
            <a:spAutoFit/>
          </a:bodyPr>
          <a:lstStyle/>
          <a:p>
            <a:pPr algn="ctr"/>
            <a:r>
              <a:rPr sz="2800" b="1">
                <a:solidFill>
                  <a:srgbClr val="000000"/>
                </a:solidFill>
              </a:rPr>
              <a:t>OPTIMIZATION TECHNIQUES</a:t>
            </a:r>
          </a:p>
        </p:txBody>
      </p:sp>
      <p:sp>
        <p:nvSpPr>
          <p:cNvPr id="4" name="Rectangle 3"/>
          <p:cNvSpPr/>
          <p:nvPr/>
        </p:nvSpPr>
        <p:spPr>
          <a:xfrm>
            <a:off x="365760" y="1188720"/>
            <a:ext cx="3566160" cy="411480"/>
          </a:xfrm>
          <a:prstGeom prst="rect">
            <a:avLst/>
          </a:prstGeom>
          <a:solidFill>
            <a:srgbClr val="E6E6E6"/>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000000"/>
                </a:solidFill>
              </a:rPr>
              <a:t>AdamW Optimizer</a:t>
            </a:r>
          </a:p>
        </p:txBody>
      </p:sp>
      <p:sp>
        <p:nvSpPr>
          <p:cNvPr id="5" name="Rectangle 4"/>
          <p:cNvSpPr/>
          <p:nvPr/>
        </p:nvSpPr>
        <p:spPr>
          <a:xfrm>
            <a:off x="365760" y="1600200"/>
            <a:ext cx="3566160" cy="1600200"/>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691640"/>
            <a:ext cx="3383279" cy="1463040"/>
          </a:xfrm>
          <a:prstGeom prst="rect">
            <a:avLst/>
          </a:prstGeom>
          <a:noFill/>
        </p:spPr>
        <p:txBody>
          <a:bodyPr wrap="square">
            <a:spAutoFit/>
          </a:bodyPr>
          <a:lstStyle/>
          <a:p>
            <a:pPr algn="l"/>
            <a:r>
              <a:rPr sz="1200" b="0">
                <a:solidFill>
                  <a:srgbClr val="000000"/>
                </a:solidFill>
              </a:rPr>
              <a:t>w = w − α·m̂/(√v̂+ε) − λw
Decoupled weight decay prevents overfitting.
Better generalisation than plain Adam.</a:t>
            </a:r>
          </a:p>
        </p:txBody>
      </p:sp>
      <p:sp>
        <p:nvSpPr>
          <p:cNvPr id="7" name="Rectangle 6"/>
          <p:cNvSpPr/>
          <p:nvPr/>
        </p:nvSpPr>
        <p:spPr>
          <a:xfrm>
            <a:off x="4206240" y="1188720"/>
            <a:ext cx="3566160" cy="411480"/>
          </a:xfrm>
          <a:prstGeom prst="rect">
            <a:avLst/>
          </a:prstGeom>
          <a:solidFill>
            <a:srgbClr val="E6E6E6"/>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000000"/>
                </a:solidFill>
              </a:rPr>
              <a:t>OneCycleLR Scheduler</a:t>
            </a:r>
          </a:p>
        </p:txBody>
      </p:sp>
      <p:sp>
        <p:nvSpPr>
          <p:cNvPr id="8" name="Rectangle 7"/>
          <p:cNvSpPr/>
          <p:nvPr/>
        </p:nvSpPr>
        <p:spPr>
          <a:xfrm>
            <a:off x="4206240" y="1600200"/>
            <a:ext cx="3566160" cy="1600200"/>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97680" y="1691640"/>
            <a:ext cx="3383279" cy="1463040"/>
          </a:xfrm>
          <a:prstGeom prst="rect">
            <a:avLst/>
          </a:prstGeom>
          <a:noFill/>
        </p:spPr>
        <p:txBody>
          <a:bodyPr wrap="square">
            <a:spAutoFit/>
          </a:bodyPr>
          <a:lstStyle/>
          <a:p>
            <a:pPr algn="l"/>
            <a:r>
              <a:rPr sz="1200" b="0">
                <a:solidFill>
                  <a:srgbClr val="000000"/>
                </a:solidFill>
              </a:rPr>
              <a:t>LR ramps from low → peak → cosine decay to ~0.
'Super-convergence': trains faster and
generalises better than a fixed LR.</a:t>
            </a:r>
          </a:p>
        </p:txBody>
      </p:sp>
      <p:sp>
        <p:nvSpPr>
          <p:cNvPr id="10" name="Rectangle 9"/>
          <p:cNvSpPr/>
          <p:nvPr/>
        </p:nvSpPr>
        <p:spPr>
          <a:xfrm>
            <a:off x="8046720" y="1188720"/>
            <a:ext cx="3566160" cy="411480"/>
          </a:xfrm>
          <a:prstGeom prst="rect">
            <a:avLst/>
          </a:prstGeom>
          <a:solidFill>
            <a:srgbClr val="E6E6E6"/>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000000"/>
                </a:solidFill>
              </a:rPr>
              <a:t>Cross-Entropy + Label Smoothing (ε=0.1)</a:t>
            </a:r>
          </a:p>
        </p:txBody>
      </p:sp>
      <p:sp>
        <p:nvSpPr>
          <p:cNvPr id="11" name="Rectangle 10"/>
          <p:cNvSpPr/>
          <p:nvPr/>
        </p:nvSpPr>
        <p:spPr>
          <a:xfrm>
            <a:off x="8046720" y="1600200"/>
            <a:ext cx="3566160" cy="1600200"/>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38160" y="1691640"/>
            <a:ext cx="3383279" cy="1463040"/>
          </a:xfrm>
          <a:prstGeom prst="rect">
            <a:avLst/>
          </a:prstGeom>
          <a:noFill/>
        </p:spPr>
        <p:txBody>
          <a:bodyPr wrap="square">
            <a:spAutoFit/>
          </a:bodyPr>
          <a:lstStyle/>
          <a:p>
            <a:pPr algn="l"/>
            <a:r>
              <a:rPr sz="1200" b="0">
                <a:solidFill>
                  <a:srgbClr val="000000"/>
                </a:solidFill>
              </a:rPr>
              <a:t>Target = 0.9 for correct class, 0.1/38 for others.
Produces better-calibrated confidence scores.
Prevents overconfidence.</a:t>
            </a:r>
          </a:p>
        </p:txBody>
      </p:sp>
      <p:sp>
        <p:nvSpPr>
          <p:cNvPr id="13" name="Rectangle 12"/>
          <p:cNvSpPr/>
          <p:nvPr/>
        </p:nvSpPr>
        <p:spPr>
          <a:xfrm>
            <a:off x="365760" y="3429000"/>
            <a:ext cx="3566160" cy="411480"/>
          </a:xfrm>
          <a:prstGeom prst="rect">
            <a:avLst/>
          </a:prstGeom>
          <a:solidFill>
            <a:srgbClr val="E6E6E6"/>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000000"/>
                </a:solidFill>
              </a:rPr>
              <a:t>Gradient Clipping (max_norm=1.0)</a:t>
            </a:r>
          </a:p>
        </p:txBody>
      </p:sp>
      <p:sp>
        <p:nvSpPr>
          <p:cNvPr id="14" name="Rectangle 13"/>
          <p:cNvSpPr/>
          <p:nvPr/>
        </p:nvSpPr>
        <p:spPr>
          <a:xfrm>
            <a:off x="365760" y="3840480"/>
            <a:ext cx="3566160" cy="1600200"/>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3931920"/>
            <a:ext cx="3383279" cy="1463040"/>
          </a:xfrm>
          <a:prstGeom prst="rect">
            <a:avLst/>
          </a:prstGeom>
          <a:noFill/>
        </p:spPr>
        <p:txBody>
          <a:bodyPr wrap="square">
            <a:spAutoFit/>
          </a:bodyPr>
          <a:lstStyle/>
          <a:p>
            <a:pPr algn="l"/>
            <a:r>
              <a:rPr sz="1200" b="0">
                <a:solidFill>
                  <a:srgbClr val="000000"/>
                </a:solidFill>
              </a:rPr>
              <a:t>Prevents exploding gradients
during fine-tuning phases.</a:t>
            </a:r>
          </a:p>
        </p:txBody>
      </p:sp>
      <p:sp>
        <p:nvSpPr>
          <p:cNvPr id="16" name="Rectangle 15"/>
          <p:cNvSpPr/>
          <p:nvPr/>
        </p:nvSpPr>
        <p:spPr>
          <a:xfrm>
            <a:off x="4206240" y="3429000"/>
            <a:ext cx="3566160" cy="411480"/>
          </a:xfrm>
          <a:prstGeom prst="rect">
            <a:avLst/>
          </a:prstGeom>
          <a:solidFill>
            <a:srgbClr val="E6E6E6"/>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000000"/>
                </a:solidFill>
              </a:rPr>
              <a:t>Mixed Precision Training</a:t>
            </a:r>
          </a:p>
        </p:txBody>
      </p:sp>
      <p:sp>
        <p:nvSpPr>
          <p:cNvPr id="17" name="Rectangle 16"/>
          <p:cNvSpPr/>
          <p:nvPr/>
        </p:nvSpPr>
        <p:spPr>
          <a:xfrm>
            <a:off x="4206240" y="3840480"/>
            <a:ext cx="3566160" cy="1600200"/>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297680" y="3931920"/>
            <a:ext cx="3383279" cy="1463040"/>
          </a:xfrm>
          <a:prstGeom prst="rect">
            <a:avLst/>
          </a:prstGeom>
          <a:noFill/>
        </p:spPr>
        <p:txBody>
          <a:bodyPr wrap="square">
            <a:spAutoFit/>
          </a:bodyPr>
          <a:lstStyle/>
          <a:p>
            <a:pPr algn="l"/>
            <a:r>
              <a:rPr sz="1200" b="0">
                <a:solidFill>
                  <a:srgbClr val="000000"/>
                </a:solidFill>
              </a:rPr>
              <a:t>float16 on GPU for forward pass speed.
float32 for gradient stability.
~2× faster training with same accuracy.</a:t>
            </a:r>
          </a:p>
        </p:txBody>
      </p:sp>
      <p:sp>
        <p:nvSpPr>
          <p:cNvPr id="19" name="Rectangle 18"/>
          <p:cNvSpPr/>
          <p:nvPr/>
        </p:nvSpPr>
        <p:spPr>
          <a:xfrm>
            <a:off x="8046720" y="3429000"/>
            <a:ext cx="3566160" cy="411480"/>
          </a:xfrm>
          <a:prstGeom prst="rect">
            <a:avLst/>
          </a:prstGeom>
          <a:solidFill>
            <a:srgbClr val="E6E6E6"/>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000000"/>
                </a:solidFill>
              </a:rPr>
              <a:t>Weighted Random Sampler</a:t>
            </a:r>
          </a:p>
        </p:txBody>
      </p:sp>
      <p:sp>
        <p:nvSpPr>
          <p:cNvPr id="20" name="Rectangle 19"/>
          <p:cNvSpPr/>
          <p:nvPr/>
        </p:nvSpPr>
        <p:spPr>
          <a:xfrm>
            <a:off x="8046720" y="3840480"/>
            <a:ext cx="3566160" cy="1600200"/>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38160" y="3931920"/>
            <a:ext cx="3383279" cy="1463040"/>
          </a:xfrm>
          <a:prstGeom prst="rect">
            <a:avLst/>
          </a:prstGeom>
          <a:noFill/>
        </p:spPr>
        <p:txBody>
          <a:bodyPr wrap="square">
            <a:spAutoFit/>
          </a:bodyPr>
          <a:lstStyle/>
          <a:p>
            <a:pPr algn="l"/>
            <a:r>
              <a:rPr sz="1200" b="0">
                <a:solidFill>
                  <a:srgbClr val="000000"/>
                </a:solidFill>
              </a:rPr>
              <a:t>class_weight = 1 / count_per_class
Every class gets equal representation
per epoch regardless of dataset size.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 y="91440"/>
            <a:ext cx="11795760" cy="822960"/>
          </a:xfrm>
          <a:prstGeom prst="rect">
            <a:avLst/>
          </a:prstGeom>
          <a:noFill/>
        </p:spPr>
        <p:txBody>
          <a:bodyPr wrap="square">
            <a:spAutoFit/>
          </a:bodyPr>
          <a:lstStyle/>
          <a:p>
            <a:pPr algn="ctr"/>
            <a:r>
              <a:rPr sz="2800" b="1">
                <a:solidFill>
                  <a:srgbClr val="000000"/>
                </a:solidFill>
              </a:rPr>
              <a:t>NOT-A-LEAF DETECTION — 3-LAYER MECHANISM</a:t>
            </a:r>
          </a:p>
        </p:txBody>
      </p:sp>
      <p:sp>
        <p:nvSpPr>
          <p:cNvPr id="4" name="TextBox 3"/>
          <p:cNvSpPr txBox="1"/>
          <p:nvPr/>
        </p:nvSpPr>
        <p:spPr>
          <a:xfrm>
            <a:off x="457200" y="1097280"/>
            <a:ext cx="11247120" cy="365760"/>
          </a:xfrm>
          <a:prstGeom prst="rect">
            <a:avLst/>
          </a:prstGeom>
          <a:noFill/>
        </p:spPr>
        <p:txBody>
          <a:bodyPr wrap="square">
            <a:spAutoFit/>
          </a:bodyPr>
          <a:lstStyle/>
          <a:p>
            <a:pPr algn="l"/>
            <a:r>
              <a:rPr sz="1500" b="0">
                <a:solidFill>
                  <a:srgbClr val="000000"/>
                </a:solidFill>
              </a:rPr>
              <a:t>Any single detection layer can be fooled. The three-layer combination is robust against adversarial inputs.</a:t>
            </a:r>
          </a:p>
        </p:txBody>
      </p:sp>
      <p:sp>
        <p:nvSpPr>
          <p:cNvPr id="5" name="Rectangle 4"/>
          <p:cNvSpPr/>
          <p:nvPr/>
        </p:nvSpPr>
        <p:spPr>
          <a:xfrm>
            <a:off x="365760" y="1828800"/>
            <a:ext cx="3474720" cy="548640"/>
          </a:xfrm>
          <a:prstGeom prst="rect">
            <a:avLst/>
          </a:prstGeom>
          <a:solidFill>
            <a:srgbClr val="E6E6E6"/>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000000"/>
                </a:solidFill>
              </a:rPr>
              <a:t>Layer 1
Predicted Class Check</a:t>
            </a:r>
          </a:p>
        </p:txBody>
      </p:sp>
      <p:sp>
        <p:nvSpPr>
          <p:cNvPr id="6" name="Rectangle 5"/>
          <p:cNvSpPr/>
          <p:nvPr/>
        </p:nvSpPr>
        <p:spPr>
          <a:xfrm>
            <a:off x="365760" y="2377440"/>
            <a:ext cx="3474720" cy="3383279"/>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468880"/>
            <a:ext cx="3291839" cy="3246120"/>
          </a:xfrm>
          <a:prstGeom prst="rect">
            <a:avLst/>
          </a:prstGeom>
          <a:noFill/>
        </p:spPr>
        <p:txBody>
          <a:bodyPr wrap="square">
            <a:spAutoFit/>
          </a:bodyPr>
          <a:lstStyle/>
          <a:p>
            <a:pPr algn="l"/>
            <a:r>
              <a:rPr sz="1300" b="0">
                <a:solidFill>
                  <a:srgbClr val="000000"/>
                </a:solidFill>
              </a:rPr>
              <a:t>predicted_class == "not_a_leaf"
The model explicitly learned what non-leaf images look like from 1,500 synthetic training examples.</a:t>
            </a:r>
          </a:p>
        </p:txBody>
      </p:sp>
      <p:sp>
        <p:nvSpPr>
          <p:cNvPr id="8" name="TextBox 7"/>
          <p:cNvSpPr txBox="1"/>
          <p:nvPr/>
        </p:nvSpPr>
        <p:spPr>
          <a:xfrm>
            <a:off x="3840480" y="3657600"/>
            <a:ext cx="274320" cy="457200"/>
          </a:xfrm>
          <a:prstGeom prst="rect">
            <a:avLst/>
          </a:prstGeom>
          <a:noFill/>
        </p:spPr>
        <p:txBody>
          <a:bodyPr wrap="square">
            <a:spAutoFit/>
          </a:bodyPr>
          <a:lstStyle/>
          <a:p>
            <a:pPr algn="ctr"/>
            <a:r>
              <a:rPr sz="2000" b="0">
                <a:solidFill>
                  <a:srgbClr val="000000"/>
                </a:solidFill>
              </a:rPr>
              <a:t>→</a:t>
            </a:r>
          </a:p>
        </p:txBody>
      </p:sp>
      <p:sp>
        <p:nvSpPr>
          <p:cNvPr id="9" name="Rectangle 8"/>
          <p:cNvSpPr/>
          <p:nvPr/>
        </p:nvSpPr>
        <p:spPr>
          <a:xfrm>
            <a:off x="4114800" y="1828800"/>
            <a:ext cx="3474720" cy="548640"/>
          </a:xfrm>
          <a:prstGeom prst="rect">
            <a:avLst/>
          </a:prstGeom>
          <a:solidFill>
            <a:srgbClr val="E6E6E6"/>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000000"/>
                </a:solidFill>
              </a:rPr>
              <a:t>Layer 2
Probability Threshold</a:t>
            </a:r>
          </a:p>
        </p:txBody>
      </p:sp>
      <p:sp>
        <p:nvSpPr>
          <p:cNvPr id="10" name="Rectangle 9"/>
          <p:cNvSpPr/>
          <p:nvPr/>
        </p:nvSpPr>
        <p:spPr>
          <a:xfrm>
            <a:off x="4114800" y="2377440"/>
            <a:ext cx="3474720" cy="3383279"/>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206240" y="2468880"/>
            <a:ext cx="3291839" cy="3246120"/>
          </a:xfrm>
          <a:prstGeom prst="rect">
            <a:avLst/>
          </a:prstGeom>
          <a:noFill/>
        </p:spPr>
        <p:txBody>
          <a:bodyPr wrap="square">
            <a:spAutoFit/>
          </a:bodyPr>
          <a:lstStyle/>
          <a:p>
            <a:pPr algn="l"/>
            <a:r>
              <a:rPr sz="1300" b="0">
                <a:solidFill>
                  <a:srgbClr val="000000"/>
                </a:solidFill>
              </a:rPr>
              <a:t>not_a_leaf_probability &gt; 35%
Even if 'not_a_leaf' is not the top prediction, a high probability indicates a suspicious input.</a:t>
            </a:r>
          </a:p>
        </p:txBody>
      </p:sp>
      <p:sp>
        <p:nvSpPr>
          <p:cNvPr id="12" name="TextBox 11"/>
          <p:cNvSpPr txBox="1"/>
          <p:nvPr/>
        </p:nvSpPr>
        <p:spPr>
          <a:xfrm>
            <a:off x="7589520" y="3657600"/>
            <a:ext cx="274320" cy="457200"/>
          </a:xfrm>
          <a:prstGeom prst="rect">
            <a:avLst/>
          </a:prstGeom>
          <a:noFill/>
        </p:spPr>
        <p:txBody>
          <a:bodyPr wrap="square">
            <a:spAutoFit/>
          </a:bodyPr>
          <a:lstStyle/>
          <a:p>
            <a:pPr algn="ctr"/>
            <a:r>
              <a:rPr sz="2000" b="0">
                <a:solidFill>
                  <a:srgbClr val="000000"/>
                </a:solidFill>
              </a:rPr>
              <a:t>→</a:t>
            </a:r>
          </a:p>
        </p:txBody>
      </p:sp>
      <p:sp>
        <p:nvSpPr>
          <p:cNvPr id="13" name="Rectangle 12"/>
          <p:cNvSpPr/>
          <p:nvPr/>
        </p:nvSpPr>
        <p:spPr>
          <a:xfrm>
            <a:off x="7863840" y="1828800"/>
            <a:ext cx="3474720" cy="548640"/>
          </a:xfrm>
          <a:prstGeom prst="rect">
            <a:avLst/>
          </a:prstGeom>
          <a:solidFill>
            <a:srgbClr val="E6E6E6"/>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000000"/>
                </a:solidFill>
              </a:rPr>
              <a:t>Layer 3
Confidence Threshold</a:t>
            </a:r>
          </a:p>
        </p:txBody>
      </p:sp>
      <p:sp>
        <p:nvSpPr>
          <p:cNvPr id="14" name="Rectangle 13"/>
          <p:cNvSpPr/>
          <p:nvPr/>
        </p:nvSpPr>
        <p:spPr>
          <a:xfrm>
            <a:off x="7863840" y="2377440"/>
            <a:ext cx="3474720" cy="3383279"/>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955279" y="2468880"/>
            <a:ext cx="3291839" cy="3246120"/>
          </a:xfrm>
          <a:prstGeom prst="rect">
            <a:avLst/>
          </a:prstGeom>
          <a:noFill/>
        </p:spPr>
        <p:txBody>
          <a:bodyPr wrap="square">
            <a:spAutoFit/>
          </a:bodyPr>
          <a:lstStyle/>
          <a:p>
            <a:pPr algn="l"/>
            <a:r>
              <a:rPr sz="1300" b="0">
                <a:solidFill>
                  <a:srgbClr val="000000"/>
                </a:solidFill>
              </a:rPr>
              <a:t>max_confidence &lt; 50%
If the model is not confident about any class, it is safer to output 'unknown' rather than guess.</a:t>
            </a:r>
          </a:p>
        </p:txBody>
      </p:sp>
      <p:sp>
        <p:nvSpPr>
          <p:cNvPr id="16" name="TextBox 15"/>
          <p:cNvSpPr txBox="1"/>
          <p:nvPr/>
        </p:nvSpPr>
        <p:spPr>
          <a:xfrm>
            <a:off x="457200" y="5897880"/>
            <a:ext cx="11247120" cy="365760"/>
          </a:xfrm>
          <a:prstGeom prst="rect">
            <a:avLst/>
          </a:prstGeom>
          <a:noFill/>
        </p:spPr>
        <p:txBody>
          <a:bodyPr wrap="square">
            <a:spAutoFit/>
          </a:bodyPr>
          <a:lstStyle/>
          <a:p>
            <a:pPr algn="ctr"/>
            <a:r>
              <a:rPr sz="1400" b="1">
                <a:solidFill>
                  <a:srgbClr val="000000"/>
                </a:solidFill>
              </a:rPr>
              <a:t>If ANY layer flags the input → prediction is REJECTED and user is informed (input is not a valid leaf image).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 y="91440"/>
            <a:ext cx="11795760" cy="822960"/>
          </a:xfrm>
          <a:prstGeom prst="rect">
            <a:avLst/>
          </a:prstGeom>
          <a:noFill/>
        </p:spPr>
        <p:txBody>
          <a:bodyPr wrap="square">
            <a:spAutoFit/>
          </a:bodyPr>
          <a:lstStyle/>
          <a:p>
            <a:pPr algn="ctr"/>
            <a:r>
              <a:rPr sz="2800" b="1">
                <a:solidFill>
                  <a:srgbClr val="000000"/>
                </a:solidFill>
              </a:rPr>
              <a:t>SYSTEM WORKFLOW — FLOWCHART</a:t>
            </a:r>
          </a:p>
        </p:txBody>
      </p:sp>
      <p:sp>
        <p:nvSpPr>
          <p:cNvPr id="4" name="Rectangle 3"/>
          <p:cNvSpPr/>
          <p:nvPr/>
        </p:nvSpPr>
        <p:spPr>
          <a:xfrm>
            <a:off x="4631436" y="1143000"/>
            <a:ext cx="2926080" cy="548640"/>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0">
                <a:solidFill>
                  <a:srgbClr val="000000"/>
                </a:solidFill>
              </a:rPr>
              <a:t>User Inputs Image
(Upload / URL / Base64)</a:t>
            </a:r>
          </a:p>
        </p:txBody>
      </p:sp>
      <p:cxnSp>
        <p:nvCxnSpPr>
          <p:cNvPr id="5" name="Connector 4"/>
          <p:cNvCxnSpPr/>
          <p:nvPr/>
        </p:nvCxnSpPr>
        <p:spPr>
          <a:xfrm>
            <a:off x="6094475" y="1691640"/>
            <a:ext cx="0" cy="182880"/>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4631436" y="1874520"/>
            <a:ext cx="2926080" cy="548640"/>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0">
                <a:solidFill>
                  <a:srgbClr val="000000"/>
                </a:solidFill>
              </a:rPr>
              <a:t>Preprocessing
(Resize 300×300, Normalize, Tensor)</a:t>
            </a:r>
          </a:p>
        </p:txBody>
      </p:sp>
      <p:cxnSp>
        <p:nvCxnSpPr>
          <p:cNvPr id="7" name="Connector 6"/>
          <p:cNvCxnSpPr/>
          <p:nvPr/>
        </p:nvCxnSpPr>
        <p:spPr>
          <a:xfrm>
            <a:off x="6094475" y="2423160"/>
            <a:ext cx="0" cy="182880"/>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4631436" y="2606040"/>
            <a:ext cx="2926080" cy="548640"/>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0">
                <a:solidFill>
                  <a:srgbClr val="000000"/>
                </a:solidFill>
              </a:rPr>
              <a:t>EfficientNetB3 Backbone
(Feature Extraction)</a:t>
            </a:r>
          </a:p>
        </p:txBody>
      </p:sp>
      <p:cxnSp>
        <p:nvCxnSpPr>
          <p:cNvPr id="9" name="Connector 8"/>
          <p:cNvCxnSpPr/>
          <p:nvPr/>
        </p:nvCxnSpPr>
        <p:spPr>
          <a:xfrm>
            <a:off x="6094475" y="3154680"/>
            <a:ext cx="0" cy="182880"/>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4631436" y="3337560"/>
            <a:ext cx="2926080" cy="548640"/>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0">
                <a:solidFill>
                  <a:srgbClr val="000000"/>
                </a:solidFill>
              </a:rPr>
              <a:t>Classification Head
(Softmax → 39 class probabilities)</a:t>
            </a:r>
          </a:p>
        </p:txBody>
      </p:sp>
      <p:cxnSp>
        <p:nvCxnSpPr>
          <p:cNvPr id="11" name="Connector 10"/>
          <p:cNvCxnSpPr/>
          <p:nvPr/>
        </p:nvCxnSpPr>
        <p:spPr>
          <a:xfrm>
            <a:off x="6094475" y="3886200"/>
            <a:ext cx="0" cy="182880"/>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12" name="Diamond 11"/>
          <p:cNvSpPr/>
          <p:nvPr/>
        </p:nvSpPr>
        <p:spPr>
          <a:xfrm>
            <a:off x="4631436" y="4069080"/>
            <a:ext cx="2926080" cy="822960"/>
          </a:xfrm>
          <a:prstGeom prst="diamond">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a:solidFill>
                  <a:srgbClr val="000000"/>
                </a:solidFill>
              </a:rPr>
              <a:t>Not-a-Leaf
Check (3 layers)?</a:t>
            </a:r>
          </a:p>
        </p:txBody>
      </p:sp>
      <p:sp>
        <p:nvSpPr>
          <p:cNvPr id="13" name="TextBox 12"/>
          <p:cNvSpPr txBox="1"/>
          <p:nvPr/>
        </p:nvSpPr>
        <p:spPr>
          <a:xfrm>
            <a:off x="7557516" y="4297680"/>
            <a:ext cx="365760" cy="365760"/>
          </a:xfrm>
          <a:prstGeom prst="rect">
            <a:avLst/>
          </a:prstGeom>
          <a:noFill/>
        </p:spPr>
        <p:txBody>
          <a:bodyPr wrap="square">
            <a:spAutoFit/>
          </a:bodyPr>
          <a:lstStyle/>
          <a:p>
            <a:pPr algn="l"/>
            <a:r>
              <a:rPr sz="1200" b="1">
                <a:solidFill>
                  <a:srgbClr val="000000"/>
                </a:solidFill>
              </a:rPr>
              <a:t>YES →</a:t>
            </a:r>
          </a:p>
        </p:txBody>
      </p:sp>
      <p:sp>
        <p:nvSpPr>
          <p:cNvPr id="14" name="Rectangle 13"/>
          <p:cNvSpPr/>
          <p:nvPr/>
        </p:nvSpPr>
        <p:spPr>
          <a:xfrm>
            <a:off x="8014716" y="4251960"/>
            <a:ext cx="2560320" cy="640080"/>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a:solidFill>
                  <a:srgbClr val="000000"/>
                </a:solidFill>
              </a:rPr>
              <a:t>REJECTED
'Not a valid leaf image'</a:t>
            </a:r>
          </a:p>
        </p:txBody>
      </p:sp>
      <p:cxnSp>
        <p:nvCxnSpPr>
          <p:cNvPr id="15" name="Connector 14"/>
          <p:cNvCxnSpPr/>
          <p:nvPr/>
        </p:nvCxnSpPr>
        <p:spPr>
          <a:xfrm>
            <a:off x="6094475" y="4892040"/>
            <a:ext cx="0" cy="182880"/>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3717035" y="4937760"/>
            <a:ext cx="914400" cy="365760"/>
          </a:xfrm>
          <a:prstGeom prst="rect">
            <a:avLst/>
          </a:prstGeom>
          <a:noFill/>
        </p:spPr>
        <p:txBody>
          <a:bodyPr wrap="square">
            <a:spAutoFit/>
          </a:bodyPr>
          <a:lstStyle/>
          <a:p>
            <a:pPr algn="l"/>
            <a:r>
              <a:rPr sz="1200" b="1">
                <a:solidFill>
                  <a:srgbClr val="000000"/>
                </a:solidFill>
              </a:rPr>
              <a:t>NO ↓</a:t>
            </a:r>
          </a:p>
        </p:txBody>
      </p:sp>
      <p:sp>
        <p:nvSpPr>
          <p:cNvPr id="17" name="Rectangle 16"/>
          <p:cNvSpPr/>
          <p:nvPr/>
        </p:nvSpPr>
        <p:spPr>
          <a:xfrm>
            <a:off x="4631436" y="5074920"/>
            <a:ext cx="2926080" cy="685800"/>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a:solidFill>
                  <a:srgbClr val="000000"/>
                </a:solidFill>
              </a:rPr>
              <a:t>Output Result
(Disease Name  |  Confidence  |  Severity  |  Treatment)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 y="91440"/>
            <a:ext cx="11795760" cy="822960"/>
          </a:xfrm>
          <a:prstGeom prst="rect">
            <a:avLst/>
          </a:prstGeom>
          <a:noFill/>
        </p:spPr>
        <p:txBody>
          <a:bodyPr wrap="square">
            <a:spAutoFit/>
          </a:bodyPr>
          <a:lstStyle/>
          <a:p>
            <a:pPr algn="ctr"/>
            <a:r>
              <a:rPr sz="2800" b="1">
                <a:solidFill>
                  <a:srgbClr val="000000"/>
                </a:solidFill>
              </a:rPr>
              <a:t>RESULTS &amp; PERFORMANCE</a:t>
            </a:r>
          </a:p>
        </p:txBody>
      </p:sp>
      <p:sp>
        <p:nvSpPr>
          <p:cNvPr id="4" name="TextBox 3"/>
          <p:cNvSpPr txBox="1"/>
          <p:nvPr/>
        </p:nvSpPr>
        <p:spPr>
          <a:xfrm>
            <a:off x="457200" y="1097280"/>
            <a:ext cx="5943600" cy="365760"/>
          </a:xfrm>
          <a:prstGeom prst="rect">
            <a:avLst/>
          </a:prstGeom>
          <a:noFill/>
        </p:spPr>
        <p:txBody>
          <a:bodyPr wrap="square">
            <a:spAutoFit/>
          </a:bodyPr>
          <a:lstStyle/>
          <a:p>
            <a:pPr algn="l"/>
            <a:r>
              <a:rPr sz="1700" b="1">
                <a:solidFill>
                  <a:srgbClr val="000000"/>
                </a:solidFill>
              </a:rPr>
              <a:t>Overall Performance Metrics</a:t>
            </a:r>
          </a:p>
        </p:txBody>
      </p:sp>
      <p:graphicFrame>
        <p:nvGraphicFramePr>
          <p:cNvPr id="5" name="Table 4"/>
          <p:cNvGraphicFramePr>
            <a:graphicFrameLocks noGrp="1"/>
          </p:cNvGraphicFramePr>
          <p:nvPr/>
        </p:nvGraphicFramePr>
        <p:xfrm>
          <a:off x="457200" y="1508760"/>
          <a:ext cx="5943599" cy="2560320"/>
        </p:xfrm>
        <a:graphic>
          <a:graphicData uri="http://schemas.openxmlformats.org/drawingml/2006/table">
            <a:tbl>
              <a:tblPr firstRow="1" bandRow="1">
                <a:tableStyleId>{5C22544A-7EE6-4342-B048-85BDC9FD1C3A}</a:tableStyleId>
              </a:tblPr>
              <a:tblGrid>
                <a:gridCol w="3396342"/>
                <a:gridCol w="2547257"/>
              </a:tblGrid>
              <a:tr h="365760">
                <a:tc>
                  <a:txBody>
                    <a:bodyPr/>
                    <a:lstStyle/>
                    <a:p>
                      <a:pPr algn="ctr"/>
                      <a:r>
                        <a:rPr sz="1300" b="1">
                          <a:solidFill>
                            <a:srgbClr val="000000"/>
                          </a:solidFill>
                        </a:rPr>
                        <a:t>Metric</a:t>
                      </a:r>
                    </a:p>
                  </a:txBody>
                  <a:tcPr>
                    <a:solidFill>
                      <a:srgbClr val="E6E6E6"/>
                    </a:solidFill>
                  </a:tcPr>
                </a:tc>
                <a:tc>
                  <a:txBody>
                    <a:bodyPr/>
                    <a:lstStyle/>
                    <a:p>
                      <a:pPr algn="ctr"/>
                      <a:r>
                        <a:rPr sz="1300" b="1">
                          <a:solidFill>
                            <a:srgbClr val="000000"/>
                          </a:solidFill>
                        </a:rPr>
                        <a:t>Value</a:t>
                      </a:r>
                    </a:p>
                  </a:txBody>
                  <a:tcPr>
                    <a:solidFill>
                      <a:srgbClr val="E6E6E6"/>
                    </a:solidFill>
                  </a:tcPr>
                </a:tc>
              </a:tr>
              <a:tr h="365760">
                <a:tc>
                  <a:txBody>
                    <a:bodyPr/>
                    <a:lstStyle/>
                    <a:p>
                      <a:pPr algn="ctr"/>
                      <a:r>
                        <a:rPr sz="1300" b="0">
                          <a:solidFill>
                            <a:srgbClr val="000000"/>
                          </a:solidFill>
                        </a:rPr>
                        <a:t>Test Accuracy (in-dataset)</a:t>
                      </a:r>
                    </a:p>
                  </a:txBody>
                  <a:tcPr>
                    <a:solidFill>
                      <a:srgbClr val="FFFFFF"/>
                    </a:solidFill>
                  </a:tcPr>
                </a:tc>
                <a:tc>
                  <a:txBody>
                    <a:bodyPr/>
                    <a:lstStyle/>
                    <a:p>
                      <a:pPr algn="ctr"/>
                      <a:r>
                        <a:rPr sz="1300" b="0">
                          <a:solidFill>
                            <a:srgbClr val="000000"/>
                          </a:solidFill>
                        </a:rPr>
                        <a:t>~94–96%</a:t>
                      </a:r>
                    </a:p>
                  </a:txBody>
                  <a:tcPr>
                    <a:solidFill>
                      <a:srgbClr val="FFFFFF"/>
                    </a:solidFill>
                  </a:tcPr>
                </a:tc>
              </a:tr>
              <a:tr h="365760">
                <a:tc>
                  <a:txBody>
                    <a:bodyPr/>
                    <a:lstStyle/>
                    <a:p>
                      <a:pPr algn="ctr"/>
                      <a:r>
                        <a:rPr sz="1300" b="0">
                          <a:solidFill>
                            <a:srgbClr val="000000"/>
                          </a:solidFill>
                        </a:rPr>
                        <a:t>Not-a-Leaf Rejection Rate</a:t>
                      </a:r>
                    </a:p>
                  </a:txBody>
                  <a:tcPr>
                    <a:solidFill>
                      <a:srgbClr val="FFFFFF"/>
                    </a:solidFill>
                  </a:tcPr>
                </a:tc>
                <a:tc>
                  <a:txBody>
                    <a:bodyPr/>
                    <a:lstStyle/>
                    <a:p>
                      <a:pPr algn="ctr"/>
                      <a:r>
                        <a:rPr sz="1300" b="0">
                          <a:solidFill>
                            <a:srgbClr val="000000"/>
                          </a:solidFill>
                        </a:rPr>
                        <a:t>~95%+</a:t>
                      </a:r>
                    </a:p>
                  </a:txBody>
                  <a:tcPr>
                    <a:solidFill>
                      <a:srgbClr val="FFFFFF"/>
                    </a:solidFill>
                  </a:tcPr>
                </a:tc>
              </a:tr>
              <a:tr h="365760">
                <a:tc>
                  <a:txBody>
                    <a:bodyPr/>
                    <a:lstStyle/>
                    <a:p>
                      <a:pPr algn="ctr"/>
                      <a:r>
                        <a:rPr sz="1300" b="0">
                          <a:solidFill>
                            <a:srgbClr val="000000"/>
                          </a:solidFill>
                        </a:rPr>
                        <a:t>Inference Time (T4 GPU)</a:t>
                      </a:r>
                    </a:p>
                  </a:txBody>
                  <a:tcPr>
                    <a:solidFill>
                      <a:srgbClr val="FFFFFF"/>
                    </a:solidFill>
                  </a:tcPr>
                </a:tc>
                <a:tc>
                  <a:txBody>
                    <a:bodyPr/>
                    <a:lstStyle/>
                    <a:p>
                      <a:pPr algn="ctr"/>
                      <a:r>
                        <a:rPr sz="1300" b="0">
                          <a:solidFill>
                            <a:srgbClr val="000000"/>
                          </a:solidFill>
                        </a:rPr>
                        <a:t>20–50 ms</a:t>
                      </a:r>
                    </a:p>
                  </a:txBody>
                  <a:tcPr>
                    <a:solidFill>
                      <a:srgbClr val="FFFFFF"/>
                    </a:solidFill>
                  </a:tcPr>
                </a:tc>
              </a:tr>
              <a:tr h="365760">
                <a:tc>
                  <a:txBody>
                    <a:bodyPr/>
                    <a:lstStyle/>
                    <a:p>
                      <a:pPr algn="ctr"/>
                      <a:r>
                        <a:rPr sz="1300" b="0">
                          <a:solidFill>
                            <a:srgbClr val="000000"/>
                          </a:solidFill>
                        </a:rPr>
                        <a:t>Inference Time (CPU)</a:t>
                      </a:r>
                    </a:p>
                  </a:txBody>
                  <a:tcPr>
                    <a:solidFill>
                      <a:srgbClr val="FFFFFF"/>
                    </a:solidFill>
                  </a:tcPr>
                </a:tc>
                <a:tc>
                  <a:txBody>
                    <a:bodyPr/>
                    <a:lstStyle/>
                    <a:p>
                      <a:pPr algn="ctr"/>
                      <a:r>
                        <a:rPr sz="1300" b="0">
                          <a:solidFill>
                            <a:srgbClr val="000000"/>
                          </a:solidFill>
                        </a:rPr>
                        <a:t>200–500 ms</a:t>
                      </a:r>
                    </a:p>
                  </a:txBody>
                  <a:tcPr>
                    <a:solidFill>
                      <a:srgbClr val="FFFFFF"/>
                    </a:solidFill>
                  </a:tcPr>
                </a:tc>
              </a:tr>
              <a:tr h="365760">
                <a:tc>
                  <a:txBody>
                    <a:bodyPr/>
                    <a:lstStyle/>
                    <a:p>
                      <a:pPr algn="ctr"/>
                      <a:r>
                        <a:rPr sz="1300" b="0">
                          <a:solidFill>
                            <a:srgbClr val="000000"/>
                          </a:solidFill>
                        </a:rPr>
                        <a:t>Model File Size</a:t>
                      </a:r>
                    </a:p>
                  </a:txBody>
                  <a:tcPr>
                    <a:solidFill>
                      <a:srgbClr val="FFFFFF"/>
                    </a:solidFill>
                  </a:tcPr>
                </a:tc>
                <a:tc>
                  <a:txBody>
                    <a:bodyPr/>
                    <a:lstStyle/>
                    <a:p>
                      <a:pPr algn="ctr"/>
                      <a:r>
                        <a:rPr sz="1300" b="0">
                          <a:solidFill>
                            <a:srgbClr val="000000"/>
                          </a:solidFill>
                        </a:rPr>
                        <a:t>~48 MB</a:t>
                      </a:r>
                    </a:p>
                  </a:txBody>
                  <a:tcPr>
                    <a:solidFill>
                      <a:srgbClr val="FFFFFF"/>
                    </a:solidFill>
                  </a:tcPr>
                </a:tc>
              </a:tr>
              <a:tr h="365760">
                <a:tc>
                  <a:txBody>
                    <a:bodyPr/>
                    <a:lstStyle/>
                    <a:p>
                      <a:pPr algn="ctr"/>
                      <a:r>
                        <a:rPr sz="1300" b="0">
                          <a:solidFill>
                            <a:srgbClr val="000000"/>
                          </a:solidFill>
                        </a:rPr>
                        <a:t>Training Time (T4)</a:t>
                      </a:r>
                    </a:p>
                  </a:txBody>
                  <a:tcPr>
                    <a:solidFill>
                      <a:srgbClr val="FFFFFF"/>
                    </a:solidFill>
                  </a:tcPr>
                </a:tc>
                <a:tc>
                  <a:txBody>
                    <a:bodyPr/>
                    <a:lstStyle/>
                    <a:p>
                      <a:pPr algn="ctr"/>
                      <a:r>
                        <a:rPr sz="1300" b="0">
                          <a:solidFill>
                            <a:srgbClr val="000000"/>
                          </a:solidFill>
                        </a:rPr>
                        <a:t>~1.5–2 hours</a:t>
                      </a:r>
                    </a:p>
                  </a:txBody>
                  <a:tcPr>
                    <a:solidFill>
                      <a:srgbClr val="FFFFFF"/>
                    </a:solidFill>
                  </a:tcPr>
                </a:tc>
              </a:tr>
            </a:tbl>
          </a:graphicData>
        </a:graphic>
      </p:graphicFrame>
      <p:sp>
        <p:nvSpPr>
          <p:cNvPr id="6" name="TextBox 5"/>
          <p:cNvSpPr txBox="1"/>
          <p:nvPr/>
        </p:nvSpPr>
        <p:spPr>
          <a:xfrm>
            <a:off x="6675120" y="1097280"/>
            <a:ext cx="5120640" cy="365760"/>
          </a:xfrm>
          <a:prstGeom prst="rect">
            <a:avLst/>
          </a:prstGeom>
          <a:noFill/>
        </p:spPr>
        <p:txBody>
          <a:bodyPr wrap="square">
            <a:spAutoFit/>
          </a:bodyPr>
          <a:lstStyle/>
          <a:p>
            <a:pPr algn="l"/>
            <a:r>
              <a:rPr sz="1700" b="1">
                <a:solidFill>
                  <a:srgbClr val="000000"/>
                </a:solidFill>
              </a:rPr>
              <a:t>Model Comparison</a:t>
            </a:r>
          </a:p>
        </p:txBody>
      </p:sp>
      <p:graphicFrame>
        <p:nvGraphicFramePr>
          <p:cNvPr id="7" name="Table 6"/>
          <p:cNvGraphicFramePr>
            <a:graphicFrameLocks noGrp="1"/>
          </p:cNvGraphicFramePr>
          <p:nvPr/>
        </p:nvGraphicFramePr>
        <p:xfrm>
          <a:off x="6675120" y="1508760"/>
          <a:ext cx="5120640" cy="1828800"/>
        </p:xfrm>
        <a:graphic>
          <a:graphicData uri="http://schemas.openxmlformats.org/drawingml/2006/table">
            <a:tbl>
              <a:tblPr firstRow="1" bandRow="1">
                <a:tableStyleId>{5C22544A-7EE6-4342-B048-85BDC9FD1C3A}</a:tableStyleId>
              </a:tblPr>
              <a:tblGrid>
                <a:gridCol w="1706880"/>
                <a:gridCol w="1137920"/>
                <a:gridCol w="1137920"/>
                <a:gridCol w="1137920"/>
              </a:tblGrid>
              <a:tr h="365760">
                <a:tc>
                  <a:txBody>
                    <a:bodyPr/>
                    <a:lstStyle/>
                    <a:p>
                      <a:pPr algn="ctr"/>
                      <a:r>
                        <a:rPr sz="1300" b="1">
                          <a:solidFill>
                            <a:srgbClr val="000000"/>
                          </a:solidFill>
                        </a:rPr>
                        <a:t>Model</a:t>
                      </a:r>
                    </a:p>
                  </a:txBody>
                  <a:tcPr>
                    <a:solidFill>
                      <a:srgbClr val="E6E6E6"/>
                    </a:solidFill>
                  </a:tcPr>
                </a:tc>
                <a:tc>
                  <a:txBody>
                    <a:bodyPr/>
                    <a:lstStyle/>
                    <a:p>
                      <a:pPr algn="ctr"/>
                      <a:r>
                        <a:rPr sz="1300" b="1">
                          <a:solidFill>
                            <a:srgbClr val="000000"/>
                          </a:solidFill>
                        </a:rPr>
                        <a:t>Accuracy</a:t>
                      </a:r>
                    </a:p>
                  </a:txBody>
                  <a:tcPr>
                    <a:solidFill>
                      <a:srgbClr val="E6E6E6"/>
                    </a:solidFill>
                  </a:tcPr>
                </a:tc>
                <a:tc>
                  <a:txBody>
                    <a:bodyPr/>
                    <a:lstStyle/>
                    <a:p>
                      <a:pPr algn="ctr"/>
                      <a:r>
                        <a:rPr sz="1300" b="1">
                          <a:solidFill>
                            <a:srgbClr val="000000"/>
                          </a:solidFill>
                        </a:rPr>
                        <a:t>Params</a:t>
                      </a:r>
                    </a:p>
                  </a:txBody>
                  <a:tcPr>
                    <a:solidFill>
                      <a:srgbClr val="E6E6E6"/>
                    </a:solidFill>
                  </a:tcPr>
                </a:tc>
                <a:tc>
                  <a:txBody>
                    <a:bodyPr/>
                    <a:lstStyle/>
                    <a:p>
                      <a:pPr algn="ctr"/>
                      <a:r>
                        <a:rPr sz="1300" b="1">
                          <a:solidFill>
                            <a:srgbClr val="000000"/>
                          </a:solidFill>
                        </a:rPr>
                        <a:t>Speed</a:t>
                      </a:r>
                    </a:p>
                  </a:txBody>
                  <a:tcPr>
                    <a:solidFill>
                      <a:srgbClr val="E6E6E6"/>
                    </a:solidFill>
                  </a:tcPr>
                </a:tc>
              </a:tr>
              <a:tr h="365760">
                <a:tc>
                  <a:txBody>
                    <a:bodyPr/>
                    <a:lstStyle/>
                    <a:p>
                      <a:pPr algn="ctr"/>
                      <a:r>
                        <a:rPr sz="1300" b="0">
                          <a:solidFill>
                            <a:srgbClr val="000000"/>
                          </a:solidFill>
                        </a:rPr>
                        <a:t>VGG16</a:t>
                      </a:r>
                    </a:p>
                  </a:txBody>
                  <a:tcPr>
                    <a:solidFill>
                      <a:srgbClr val="FFFFFF"/>
                    </a:solidFill>
                  </a:tcPr>
                </a:tc>
                <a:tc>
                  <a:txBody>
                    <a:bodyPr/>
                    <a:lstStyle/>
                    <a:p>
                      <a:pPr algn="ctr"/>
                      <a:r>
                        <a:rPr sz="1300" b="0">
                          <a:solidFill>
                            <a:srgbClr val="000000"/>
                          </a:solidFill>
                        </a:rPr>
                        <a:t>71%</a:t>
                      </a:r>
                    </a:p>
                  </a:txBody>
                  <a:tcPr>
                    <a:solidFill>
                      <a:srgbClr val="FFFFFF"/>
                    </a:solidFill>
                  </a:tcPr>
                </a:tc>
                <a:tc>
                  <a:txBody>
                    <a:bodyPr/>
                    <a:lstStyle/>
                    <a:p>
                      <a:pPr algn="ctr"/>
                      <a:r>
                        <a:rPr sz="1300" b="0">
                          <a:solidFill>
                            <a:srgbClr val="000000"/>
                          </a:solidFill>
                        </a:rPr>
                        <a:t>138M</a:t>
                      </a:r>
                    </a:p>
                  </a:txBody>
                  <a:tcPr>
                    <a:solidFill>
                      <a:srgbClr val="FFFFFF"/>
                    </a:solidFill>
                  </a:tcPr>
                </a:tc>
                <a:tc>
                  <a:txBody>
                    <a:bodyPr/>
                    <a:lstStyle/>
                    <a:p>
                      <a:pPr algn="ctr"/>
                      <a:r>
                        <a:rPr sz="1300" b="0">
                          <a:solidFill>
                            <a:srgbClr val="000000"/>
                          </a:solidFill>
                        </a:rPr>
                        <a:t>Slow</a:t>
                      </a:r>
                    </a:p>
                  </a:txBody>
                  <a:tcPr>
                    <a:solidFill>
                      <a:srgbClr val="FFFFFF"/>
                    </a:solidFill>
                  </a:tcPr>
                </a:tc>
              </a:tr>
              <a:tr h="365760">
                <a:tc>
                  <a:txBody>
                    <a:bodyPr/>
                    <a:lstStyle/>
                    <a:p>
                      <a:pPr algn="ctr"/>
                      <a:r>
                        <a:rPr sz="1300" b="0">
                          <a:solidFill>
                            <a:srgbClr val="000000"/>
                          </a:solidFill>
                        </a:rPr>
                        <a:t>ResNet50</a:t>
                      </a:r>
                    </a:p>
                  </a:txBody>
                  <a:tcPr>
                    <a:solidFill>
                      <a:srgbClr val="FFFFFF"/>
                    </a:solidFill>
                  </a:tcPr>
                </a:tc>
                <a:tc>
                  <a:txBody>
                    <a:bodyPr/>
                    <a:lstStyle/>
                    <a:p>
                      <a:pPr algn="ctr"/>
                      <a:r>
                        <a:rPr sz="1300" b="0">
                          <a:solidFill>
                            <a:srgbClr val="000000"/>
                          </a:solidFill>
                        </a:rPr>
                        <a:t>76%</a:t>
                      </a:r>
                    </a:p>
                  </a:txBody>
                  <a:tcPr>
                    <a:solidFill>
                      <a:srgbClr val="FFFFFF"/>
                    </a:solidFill>
                  </a:tcPr>
                </a:tc>
                <a:tc>
                  <a:txBody>
                    <a:bodyPr/>
                    <a:lstStyle/>
                    <a:p>
                      <a:pPr algn="ctr"/>
                      <a:r>
                        <a:rPr sz="1300" b="0">
                          <a:solidFill>
                            <a:srgbClr val="000000"/>
                          </a:solidFill>
                        </a:rPr>
                        <a:t>25M</a:t>
                      </a:r>
                    </a:p>
                  </a:txBody>
                  <a:tcPr>
                    <a:solidFill>
                      <a:srgbClr val="FFFFFF"/>
                    </a:solidFill>
                  </a:tcPr>
                </a:tc>
                <a:tc>
                  <a:txBody>
                    <a:bodyPr/>
                    <a:lstStyle/>
                    <a:p>
                      <a:pPr algn="ctr"/>
                      <a:r>
                        <a:rPr sz="1300" b="0">
                          <a:solidFill>
                            <a:srgbClr val="000000"/>
                          </a:solidFill>
                        </a:rPr>
                        <a:t>Medium</a:t>
                      </a:r>
                    </a:p>
                  </a:txBody>
                  <a:tcPr>
                    <a:solidFill>
                      <a:srgbClr val="FFFFFF"/>
                    </a:solidFill>
                  </a:tcPr>
                </a:tc>
              </a:tr>
              <a:tr h="365760">
                <a:tc>
                  <a:txBody>
                    <a:bodyPr/>
                    <a:lstStyle/>
                    <a:p>
                      <a:pPr algn="ctr"/>
                      <a:r>
                        <a:rPr sz="1300" b="0">
                          <a:solidFill>
                            <a:srgbClr val="000000"/>
                          </a:solidFill>
                        </a:rPr>
                        <a:t>MobileNetV2</a:t>
                      </a:r>
                    </a:p>
                  </a:txBody>
                  <a:tcPr>
                    <a:solidFill>
                      <a:srgbClr val="FFFFFF"/>
                    </a:solidFill>
                  </a:tcPr>
                </a:tc>
                <a:tc>
                  <a:txBody>
                    <a:bodyPr/>
                    <a:lstStyle/>
                    <a:p>
                      <a:pPr algn="ctr"/>
                      <a:r>
                        <a:rPr sz="1300" b="0">
                          <a:solidFill>
                            <a:srgbClr val="000000"/>
                          </a:solidFill>
                        </a:rPr>
                        <a:t>72%</a:t>
                      </a:r>
                    </a:p>
                  </a:txBody>
                  <a:tcPr>
                    <a:solidFill>
                      <a:srgbClr val="FFFFFF"/>
                    </a:solidFill>
                  </a:tcPr>
                </a:tc>
                <a:tc>
                  <a:txBody>
                    <a:bodyPr/>
                    <a:lstStyle/>
                    <a:p>
                      <a:pPr algn="ctr"/>
                      <a:r>
                        <a:rPr sz="1300" b="0">
                          <a:solidFill>
                            <a:srgbClr val="000000"/>
                          </a:solidFill>
                        </a:rPr>
                        <a:t>3.4M</a:t>
                      </a:r>
                    </a:p>
                  </a:txBody>
                  <a:tcPr>
                    <a:solidFill>
                      <a:srgbClr val="FFFFFF"/>
                    </a:solidFill>
                  </a:tcPr>
                </a:tc>
                <a:tc>
                  <a:txBody>
                    <a:bodyPr/>
                    <a:lstStyle/>
                    <a:p>
                      <a:pPr algn="ctr"/>
                      <a:r>
                        <a:rPr sz="1300" b="0">
                          <a:solidFill>
                            <a:srgbClr val="000000"/>
                          </a:solidFill>
                        </a:rPr>
                        <a:t>Fast</a:t>
                      </a:r>
                    </a:p>
                  </a:txBody>
                  <a:tcPr>
                    <a:solidFill>
                      <a:srgbClr val="FFFFFF"/>
                    </a:solidFill>
                  </a:tcPr>
                </a:tc>
              </a:tr>
              <a:tr h="365760">
                <a:tc>
                  <a:txBody>
                    <a:bodyPr/>
                    <a:lstStyle/>
                    <a:p>
                      <a:pPr algn="ctr"/>
                      <a:r>
                        <a:rPr sz="1300" b="0">
                          <a:solidFill>
                            <a:srgbClr val="000000"/>
                          </a:solidFill>
                        </a:rPr>
                        <a:t>EfficientNetB3</a:t>
                      </a:r>
                    </a:p>
                  </a:txBody>
                  <a:tcPr>
                    <a:solidFill>
                      <a:srgbClr val="FFFFFF"/>
                    </a:solidFill>
                  </a:tcPr>
                </a:tc>
                <a:tc>
                  <a:txBody>
                    <a:bodyPr/>
                    <a:lstStyle/>
                    <a:p>
                      <a:pPr algn="ctr"/>
                      <a:r>
                        <a:rPr sz="1300" b="0">
                          <a:solidFill>
                            <a:srgbClr val="000000"/>
                          </a:solidFill>
                        </a:rPr>
                        <a:t>81.6%</a:t>
                      </a:r>
                    </a:p>
                  </a:txBody>
                  <a:tcPr>
                    <a:solidFill>
                      <a:srgbClr val="FFFFFF"/>
                    </a:solidFill>
                  </a:tcPr>
                </a:tc>
                <a:tc>
                  <a:txBody>
                    <a:bodyPr/>
                    <a:lstStyle/>
                    <a:p>
                      <a:pPr algn="ctr"/>
                      <a:r>
                        <a:rPr sz="1300" b="0">
                          <a:solidFill>
                            <a:srgbClr val="000000"/>
                          </a:solidFill>
                        </a:rPr>
                        <a:t>12M</a:t>
                      </a:r>
                    </a:p>
                  </a:txBody>
                  <a:tcPr>
                    <a:solidFill>
                      <a:srgbClr val="FFFFFF"/>
                    </a:solidFill>
                  </a:tcPr>
                </a:tc>
                <a:tc>
                  <a:txBody>
                    <a:bodyPr/>
                    <a:lstStyle/>
                    <a:p>
                      <a:pPr algn="ctr"/>
                      <a:r>
                        <a:rPr sz="1300" b="0">
                          <a:solidFill>
                            <a:srgbClr val="000000"/>
                          </a:solidFill>
                        </a:rPr>
                        <a:t>Medium</a:t>
                      </a:r>
                    </a:p>
                  </a:txBody>
                  <a:tcPr>
                    <a:solidFill>
                      <a:srgbClr val="FFFFFF"/>
                    </a:solidFill>
                  </a:tcPr>
                </a:tc>
              </a:tr>
            </a:tbl>
          </a:graphicData>
        </a:graphic>
      </p:graphicFrame>
      <p:sp>
        <p:nvSpPr>
          <p:cNvPr id="8" name="TextBox 7"/>
          <p:cNvSpPr txBox="1"/>
          <p:nvPr/>
        </p:nvSpPr>
        <p:spPr>
          <a:xfrm>
            <a:off x="457200" y="4343400"/>
            <a:ext cx="11247120" cy="365760"/>
          </a:xfrm>
          <a:prstGeom prst="rect">
            <a:avLst/>
          </a:prstGeom>
          <a:noFill/>
        </p:spPr>
        <p:txBody>
          <a:bodyPr wrap="square">
            <a:spAutoFit/>
          </a:bodyPr>
          <a:lstStyle/>
          <a:p>
            <a:pPr algn="l"/>
            <a:r>
              <a:rPr sz="1700" b="1">
                <a:solidFill>
                  <a:srgbClr val="000000"/>
                </a:solidFill>
              </a:rPr>
              <a:t>Training Observations</a:t>
            </a:r>
          </a:p>
        </p:txBody>
      </p:sp>
      <p:sp>
        <p:nvSpPr>
          <p:cNvPr id="9" name="TextBox 8"/>
          <p:cNvSpPr txBox="1"/>
          <p:nvPr/>
        </p:nvSpPr>
        <p:spPr>
          <a:xfrm>
            <a:off x="457200" y="4754880"/>
            <a:ext cx="11247120" cy="1920240"/>
          </a:xfrm>
          <a:prstGeom prst="rect">
            <a:avLst/>
          </a:prstGeom>
          <a:noFill/>
        </p:spPr>
        <p:txBody>
          <a:bodyPr wrap="square">
            <a:spAutoFit/>
          </a:bodyPr>
          <a:lstStyle/>
          <a:p>
            <a:pPr algn="l"/>
            <a:r>
              <a:rPr sz="1400">
                <a:solidFill>
                  <a:srgbClr val="000000"/>
                </a:solidFill>
              </a:rPr>
              <a:t>• Accuracy curve rises steadily; loss falls smoothly — healthy convergence with very little overfitting.</a:t>
            </a:r>
          </a:p>
          <a:p>
            <a:pPr algn="l"/>
            <a:r>
              <a:rPr sz="1400">
                <a:solidFill>
                  <a:srgbClr val="000000"/>
                </a:solidFill>
              </a:rPr>
              <a:t>• Training and validation curves closely track each other — strong generalisation.</a:t>
            </a:r>
          </a:p>
          <a:p>
            <a:pPr algn="l"/>
            <a:r>
              <a:rPr sz="1400">
                <a:solidFill>
                  <a:srgbClr val="000000"/>
                </a:solidFill>
              </a:rPr>
              <a:t>• Confusion matrix shows predictions concentrated on the diagonal — correct classifications across all 39 classes.</a:t>
            </a:r>
          </a:p>
          <a:p>
            <a:pPr algn="l"/>
            <a:r>
              <a:rPr sz="1400">
                <a:solidFill>
                  <a:srgbClr val="000000"/>
                </a:solidFill>
              </a:rPr>
              <a:t>• System handles lighting changes, orientation changes, and partial occlusions in real-world images.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 y="91440"/>
            <a:ext cx="11795760" cy="822960"/>
          </a:xfrm>
          <a:prstGeom prst="rect">
            <a:avLst/>
          </a:prstGeom>
          <a:noFill/>
        </p:spPr>
        <p:txBody>
          <a:bodyPr wrap="square">
            <a:spAutoFit/>
          </a:bodyPr>
          <a:lstStyle/>
          <a:p>
            <a:pPr algn="ctr"/>
            <a:r>
              <a:rPr sz="2800" b="1">
                <a:solidFill>
                  <a:srgbClr val="000000"/>
                </a:solidFill>
              </a:rPr>
              <a:t>MODEL ACCURACY COMPARISON (Bar Chart)</a:t>
            </a:r>
          </a:p>
        </p:txBody>
      </p:sp>
      <p:sp>
        <p:nvSpPr>
          <p:cNvPr id="4" name="Rectangle 3"/>
          <p:cNvSpPr/>
          <p:nvPr/>
        </p:nvSpPr>
        <p:spPr>
          <a:xfrm>
            <a:off x="914400" y="3101644"/>
            <a:ext cx="1463040" cy="3116275"/>
          </a:xfrm>
          <a:prstGeom prst="rect">
            <a:avLst/>
          </a:prstGeom>
          <a:solidFill>
            <a:srgbClr val="E6E6E6"/>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735884"/>
            <a:ext cx="1463040" cy="320040"/>
          </a:xfrm>
          <a:prstGeom prst="rect">
            <a:avLst/>
          </a:prstGeom>
          <a:noFill/>
        </p:spPr>
        <p:txBody>
          <a:bodyPr wrap="square">
            <a:spAutoFit/>
          </a:bodyPr>
          <a:lstStyle/>
          <a:p>
            <a:pPr algn="ctr"/>
            <a:r>
              <a:rPr sz="1400" b="1">
                <a:solidFill>
                  <a:srgbClr val="000000"/>
                </a:solidFill>
              </a:rPr>
              <a:t>71%</a:t>
            </a:r>
          </a:p>
        </p:txBody>
      </p:sp>
      <p:sp>
        <p:nvSpPr>
          <p:cNvPr id="6" name="TextBox 5"/>
          <p:cNvSpPr txBox="1"/>
          <p:nvPr/>
        </p:nvSpPr>
        <p:spPr>
          <a:xfrm>
            <a:off x="914400" y="6217920"/>
            <a:ext cx="1463040" cy="320040"/>
          </a:xfrm>
          <a:prstGeom prst="rect">
            <a:avLst/>
          </a:prstGeom>
          <a:noFill/>
        </p:spPr>
        <p:txBody>
          <a:bodyPr wrap="square">
            <a:spAutoFit/>
          </a:bodyPr>
          <a:lstStyle/>
          <a:p>
            <a:pPr algn="ctr"/>
            <a:r>
              <a:rPr sz="1300" b="0">
                <a:solidFill>
                  <a:srgbClr val="000000"/>
                </a:solidFill>
              </a:rPr>
              <a:t>VGG16</a:t>
            </a:r>
          </a:p>
        </p:txBody>
      </p:sp>
      <p:sp>
        <p:nvSpPr>
          <p:cNvPr id="7" name="Rectangle 6"/>
          <p:cNvSpPr/>
          <p:nvPr/>
        </p:nvSpPr>
        <p:spPr>
          <a:xfrm>
            <a:off x="3108960" y="3057753"/>
            <a:ext cx="1463040" cy="3160166"/>
          </a:xfrm>
          <a:prstGeom prst="rect">
            <a:avLst/>
          </a:prstGeom>
          <a:solidFill>
            <a:srgbClr val="E6E6E6"/>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108960" y="2691993"/>
            <a:ext cx="1463040" cy="320040"/>
          </a:xfrm>
          <a:prstGeom prst="rect">
            <a:avLst/>
          </a:prstGeom>
          <a:noFill/>
        </p:spPr>
        <p:txBody>
          <a:bodyPr wrap="square">
            <a:spAutoFit/>
          </a:bodyPr>
          <a:lstStyle/>
          <a:p>
            <a:pPr algn="ctr"/>
            <a:r>
              <a:rPr sz="1400" b="1">
                <a:solidFill>
                  <a:srgbClr val="000000"/>
                </a:solidFill>
              </a:rPr>
              <a:t>72%</a:t>
            </a:r>
          </a:p>
        </p:txBody>
      </p:sp>
      <p:sp>
        <p:nvSpPr>
          <p:cNvPr id="9" name="TextBox 8"/>
          <p:cNvSpPr txBox="1"/>
          <p:nvPr/>
        </p:nvSpPr>
        <p:spPr>
          <a:xfrm>
            <a:off x="3108960" y="6217920"/>
            <a:ext cx="1463040" cy="320040"/>
          </a:xfrm>
          <a:prstGeom prst="rect">
            <a:avLst/>
          </a:prstGeom>
          <a:noFill/>
        </p:spPr>
        <p:txBody>
          <a:bodyPr wrap="square">
            <a:spAutoFit/>
          </a:bodyPr>
          <a:lstStyle/>
          <a:p>
            <a:pPr algn="ctr"/>
            <a:r>
              <a:rPr sz="1300" b="0">
                <a:solidFill>
                  <a:srgbClr val="000000"/>
                </a:solidFill>
              </a:rPr>
              <a:t>MobileNetV2</a:t>
            </a:r>
          </a:p>
        </p:txBody>
      </p:sp>
      <p:sp>
        <p:nvSpPr>
          <p:cNvPr id="10" name="Rectangle 9"/>
          <p:cNvSpPr/>
          <p:nvPr/>
        </p:nvSpPr>
        <p:spPr>
          <a:xfrm>
            <a:off x="5303520" y="2882188"/>
            <a:ext cx="1463040" cy="3335731"/>
          </a:xfrm>
          <a:prstGeom prst="rect">
            <a:avLst/>
          </a:prstGeom>
          <a:solidFill>
            <a:srgbClr val="E6E6E6"/>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303520" y="2516428"/>
            <a:ext cx="1463040" cy="320040"/>
          </a:xfrm>
          <a:prstGeom prst="rect">
            <a:avLst/>
          </a:prstGeom>
          <a:noFill/>
        </p:spPr>
        <p:txBody>
          <a:bodyPr wrap="square">
            <a:spAutoFit/>
          </a:bodyPr>
          <a:lstStyle/>
          <a:p>
            <a:pPr algn="ctr"/>
            <a:r>
              <a:rPr sz="1400" b="1">
                <a:solidFill>
                  <a:srgbClr val="000000"/>
                </a:solidFill>
              </a:rPr>
              <a:t>76%</a:t>
            </a:r>
          </a:p>
        </p:txBody>
      </p:sp>
      <p:sp>
        <p:nvSpPr>
          <p:cNvPr id="12" name="TextBox 11"/>
          <p:cNvSpPr txBox="1"/>
          <p:nvPr/>
        </p:nvSpPr>
        <p:spPr>
          <a:xfrm>
            <a:off x="5303520" y="6217920"/>
            <a:ext cx="1463040" cy="320040"/>
          </a:xfrm>
          <a:prstGeom prst="rect">
            <a:avLst/>
          </a:prstGeom>
          <a:noFill/>
        </p:spPr>
        <p:txBody>
          <a:bodyPr wrap="square">
            <a:spAutoFit/>
          </a:bodyPr>
          <a:lstStyle/>
          <a:p>
            <a:pPr algn="ctr"/>
            <a:r>
              <a:rPr sz="1300" b="0">
                <a:solidFill>
                  <a:srgbClr val="000000"/>
                </a:solidFill>
              </a:rPr>
              <a:t>ResNet50</a:t>
            </a:r>
          </a:p>
        </p:txBody>
      </p:sp>
      <p:sp>
        <p:nvSpPr>
          <p:cNvPr id="13" name="Rectangle 12"/>
          <p:cNvSpPr/>
          <p:nvPr/>
        </p:nvSpPr>
        <p:spPr>
          <a:xfrm>
            <a:off x="7498080" y="2636398"/>
            <a:ext cx="1463040" cy="3581521"/>
          </a:xfrm>
          <a:prstGeom prst="rect">
            <a:avLst/>
          </a:prstGeom>
          <a:solidFill>
            <a:srgbClr val="E6E6E6"/>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98080" y="2270638"/>
            <a:ext cx="1463040" cy="320040"/>
          </a:xfrm>
          <a:prstGeom prst="rect">
            <a:avLst/>
          </a:prstGeom>
          <a:noFill/>
        </p:spPr>
        <p:txBody>
          <a:bodyPr wrap="square">
            <a:spAutoFit/>
          </a:bodyPr>
          <a:lstStyle/>
          <a:p>
            <a:pPr algn="ctr"/>
            <a:r>
              <a:rPr sz="1400" b="1">
                <a:solidFill>
                  <a:srgbClr val="000000"/>
                </a:solidFill>
              </a:rPr>
              <a:t>81.6%</a:t>
            </a:r>
          </a:p>
        </p:txBody>
      </p:sp>
      <p:sp>
        <p:nvSpPr>
          <p:cNvPr id="15" name="TextBox 14"/>
          <p:cNvSpPr txBox="1"/>
          <p:nvPr/>
        </p:nvSpPr>
        <p:spPr>
          <a:xfrm>
            <a:off x="7498080" y="6217920"/>
            <a:ext cx="1463040" cy="320040"/>
          </a:xfrm>
          <a:prstGeom prst="rect">
            <a:avLst/>
          </a:prstGeom>
          <a:noFill/>
        </p:spPr>
        <p:txBody>
          <a:bodyPr wrap="square">
            <a:spAutoFit/>
          </a:bodyPr>
          <a:lstStyle/>
          <a:p>
            <a:pPr algn="ctr"/>
            <a:r>
              <a:rPr sz="1300" b="0">
                <a:solidFill>
                  <a:srgbClr val="000000"/>
                </a:solidFill>
              </a:rPr>
              <a:t>EfficientNetB3</a:t>
            </a:r>
          </a:p>
        </p:txBody>
      </p:sp>
      <p:sp>
        <p:nvSpPr>
          <p:cNvPr id="16" name="TextBox 15"/>
          <p:cNvSpPr txBox="1"/>
          <p:nvPr/>
        </p:nvSpPr>
        <p:spPr>
          <a:xfrm>
            <a:off x="91440" y="6080759"/>
            <a:ext cx="731520" cy="274320"/>
          </a:xfrm>
          <a:prstGeom prst="rect">
            <a:avLst/>
          </a:prstGeom>
          <a:noFill/>
        </p:spPr>
        <p:txBody>
          <a:bodyPr wrap="square">
            <a:spAutoFit/>
          </a:bodyPr>
          <a:lstStyle/>
          <a:p>
            <a:pPr algn="r"/>
            <a:r>
              <a:rPr sz="1100" b="0">
                <a:solidFill>
                  <a:srgbClr val="000000"/>
                </a:solidFill>
              </a:rPr>
              <a:t>0%</a:t>
            </a:r>
          </a:p>
        </p:txBody>
      </p:sp>
      <p:cxnSp>
        <p:nvCxnSpPr>
          <p:cNvPr id="17" name="Connector 16"/>
          <p:cNvCxnSpPr/>
          <p:nvPr/>
        </p:nvCxnSpPr>
        <p:spPr>
          <a:xfrm>
            <a:off x="822960" y="6217920"/>
            <a:ext cx="91440" cy="0"/>
          </a:xfrm>
          <a:prstGeom prst="line">
            <a:avLst/>
          </a:prstGeom>
          <a:ln w="6350">
            <a:solidFill>
              <a:srgbClr val="B4B4B4"/>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91440" y="5202936"/>
            <a:ext cx="731520" cy="274320"/>
          </a:xfrm>
          <a:prstGeom prst="rect">
            <a:avLst/>
          </a:prstGeom>
          <a:noFill/>
        </p:spPr>
        <p:txBody>
          <a:bodyPr wrap="square">
            <a:spAutoFit/>
          </a:bodyPr>
          <a:lstStyle/>
          <a:p>
            <a:pPr algn="r"/>
            <a:r>
              <a:rPr sz="1100" b="0">
                <a:solidFill>
                  <a:srgbClr val="000000"/>
                </a:solidFill>
              </a:rPr>
              <a:t>20%</a:t>
            </a:r>
          </a:p>
        </p:txBody>
      </p:sp>
      <p:cxnSp>
        <p:nvCxnSpPr>
          <p:cNvPr id="19" name="Connector 18"/>
          <p:cNvCxnSpPr/>
          <p:nvPr/>
        </p:nvCxnSpPr>
        <p:spPr>
          <a:xfrm>
            <a:off x="822960" y="5340096"/>
            <a:ext cx="91440" cy="0"/>
          </a:xfrm>
          <a:prstGeom prst="line">
            <a:avLst/>
          </a:prstGeom>
          <a:ln w="6350">
            <a:solidFill>
              <a:srgbClr val="B4B4B4"/>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91440" y="4325112"/>
            <a:ext cx="731520" cy="274320"/>
          </a:xfrm>
          <a:prstGeom prst="rect">
            <a:avLst/>
          </a:prstGeom>
          <a:noFill/>
        </p:spPr>
        <p:txBody>
          <a:bodyPr wrap="square">
            <a:spAutoFit/>
          </a:bodyPr>
          <a:lstStyle/>
          <a:p>
            <a:pPr algn="r"/>
            <a:r>
              <a:rPr sz="1100" b="0">
                <a:solidFill>
                  <a:srgbClr val="000000"/>
                </a:solidFill>
              </a:rPr>
              <a:t>40%</a:t>
            </a:r>
          </a:p>
        </p:txBody>
      </p:sp>
      <p:cxnSp>
        <p:nvCxnSpPr>
          <p:cNvPr id="21" name="Connector 20"/>
          <p:cNvCxnSpPr/>
          <p:nvPr/>
        </p:nvCxnSpPr>
        <p:spPr>
          <a:xfrm>
            <a:off x="822960" y="4462272"/>
            <a:ext cx="91440" cy="0"/>
          </a:xfrm>
          <a:prstGeom prst="line">
            <a:avLst/>
          </a:prstGeom>
          <a:ln w="6350">
            <a:solidFill>
              <a:srgbClr val="B4B4B4"/>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91440" y="3447288"/>
            <a:ext cx="731520" cy="274320"/>
          </a:xfrm>
          <a:prstGeom prst="rect">
            <a:avLst/>
          </a:prstGeom>
          <a:noFill/>
        </p:spPr>
        <p:txBody>
          <a:bodyPr wrap="square">
            <a:spAutoFit/>
          </a:bodyPr>
          <a:lstStyle/>
          <a:p>
            <a:pPr algn="r"/>
            <a:r>
              <a:rPr sz="1100" b="0">
                <a:solidFill>
                  <a:srgbClr val="000000"/>
                </a:solidFill>
              </a:rPr>
              <a:t>60%</a:t>
            </a:r>
          </a:p>
        </p:txBody>
      </p:sp>
      <p:cxnSp>
        <p:nvCxnSpPr>
          <p:cNvPr id="23" name="Connector 22"/>
          <p:cNvCxnSpPr/>
          <p:nvPr/>
        </p:nvCxnSpPr>
        <p:spPr>
          <a:xfrm>
            <a:off x="822960" y="3584448"/>
            <a:ext cx="91440" cy="0"/>
          </a:xfrm>
          <a:prstGeom prst="line">
            <a:avLst/>
          </a:prstGeom>
          <a:ln w="6350">
            <a:solidFill>
              <a:srgbClr val="B4B4B4"/>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91440" y="2569464"/>
            <a:ext cx="731520" cy="274320"/>
          </a:xfrm>
          <a:prstGeom prst="rect">
            <a:avLst/>
          </a:prstGeom>
          <a:noFill/>
        </p:spPr>
        <p:txBody>
          <a:bodyPr wrap="square">
            <a:spAutoFit/>
          </a:bodyPr>
          <a:lstStyle/>
          <a:p>
            <a:pPr algn="r"/>
            <a:r>
              <a:rPr sz="1100" b="0">
                <a:solidFill>
                  <a:srgbClr val="000000"/>
                </a:solidFill>
              </a:rPr>
              <a:t>80%</a:t>
            </a:r>
          </a:p>
        </p:txBody>
      </p:sp>
      <p:cxnSp>
        <p:nvCxnSpPr>
          <p:cNvPr id="25" name="Connector 24"/>
          <p:cNvCxnSpPr/>
          <p:nvPr/>
        </p:nvCxnSpPr>
        <p:spPr>
          <a:xfrm>
            <a:off x="822960" y="2706624"/>
            <a:ext cx="91440" cy="0"/>
          </a:xfrm>
          <a:prstGeom prst="line">
            <a:avLst/>
          </a:prstGeom>
          <a:ln w="6350">
            <a:solidFill>
              <a:srgbClr val="B4B4B4"/>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91440" y="1691640"/>
            <a:ext cx="731520" cy="274320"/>
          </a:xfrm>
          <a:prstGeom prst="rect">
            <a:avLst/>
          </a:prstGeom>
          <a:noFill/>
        </p:spPr>
        <p:txBody>
          <a:bodyPr wrap="square">
            <a:spAutoFit/>
          </a:bodyPr>
          <a:lstStyle/>
          <a:p>
            <a:pPr algn="r"/>
            <a:r>
              <a:rPr sz="1100" b="0">
                <a:solidFill>
                  <a:srgbClr val="000000"/>
                </a:solidFill>
              </a:rPr>
              <a:t>100%</a:t>
            </a:r>
          </a:p>
        </p:txBody>
      </p:sp>
      <p:cxnSp>
        <p:nvCxnSpPr>
          <p:cNvPr id="27" name="Connector 26"/>
          <p:cNvCxnSpPr/>
          <p:nvPr/>
        </p:nvCxnSpPr>
        <p:spPr>
          <a:xfrm>
            <a:off x="822960" y="1828800"/>
            <a:ext cx="91440" cy="0"/>
          </a:xfrm>
          <a:prstGeom prst="line">
            <a:avLst/>
          </a:prstGeom>
          <a:ln w="6350">
            <a:solidFill>
              <a:srgbClr val="B4B4B4"/>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914400" y="1828800"/>
            <a:ext cx="0" cy="4389120"/>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914400" y="6217920"/>
            <a:ext cx="8778240" cy="0"/>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91440" y="3657600"/>
            <a:ext cx="640080" cy="2743200"/>
          </a:xfrm>
          <a:prstGeom prst="rect">
            <a:avLst/>
          </a:prstGeom>
          <a:noFill/>
        </p:spPr>
        <p:txBody>
          <a:bodyPr wrap="square">
            <a:spAutoFit/>
          </a:bodyPr>
          <a:lstStyle/>
          <a:p>
            <a:pPr algn="ctr"/>
            <a:r>
              <a:rPr sz="1300" b="0">
                <a:solidFill>
                  <a:srgbClr val="000000"/>
                </a:solidFill>
              </a:rPr>
              <a:t>Accuracy (%)</a:t>
            </a:r>
          </a:p>
        </p:txBody>
      </p:sp>
      <p:sp>
        <p:nvSpPr>
          <p:cNvPr id="31" name="TextBox 30"/>
          <p:cNvSpPr txBox="1"/>
          <p:nvPr/>
        </p:nvSpPr>
        <p:spPr>
          <a:xfrm>
            <a:off x="914400" y="6537960"/>
            <a:ext cx="9144000" cy="274320"/>
          </a:xfrm>
          <a:prstGeom prst="rect">
            <a:avLst/>
          </a:prstGeom>
          <a:noFill/>
        </p:spPr>
        <p:txBody>
          <a:bodyPr wrap="square">
            <a:spAutoFit/>
          </a:bodyPr>
          <a:lstStyle/>
          <a:p>
            <a:pPr algn="ctr"/>
            <a:r>
              <a:rPr sz="1300" b="0">
                <a:solidFill>
                  <a:srgbClr val="000000"/>
                </a:solidFill>
              </a:rPr>
              <a:t>Model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 y="91440"/>
            <a:ext cx="11795760" cy="822960"/>
          </a:xfrm>
          <a:prstGeom prst="rect">
            <a:avLst/>
          </a:prstGeom>
          <a:noFill/>
        </p:spPr>
        <p:txBody>
          <a:bodyPr wrap="square">
            <a:spAutoFit/>
          </a:bodyPr>
          <a:lstStyle/>
          <a:p>
            <a:pPr algn="ctr"/>
            <a:r>
              <a:rPr sz="2800" b="1">
                <a:solidFill>
                  <a:srgbClr val="000000"/>
                </a:solidFill>
              </a:rPr>
              <a:t>KEY FINDINGS</a:t>
            </a:r>
          </a:p>
        </p:txBody>
      </p:sp>
      <p:sp>
        <p:nvSpPr>
          <p:cNvPr id="4" name="TextBox 3"/>
          <p:cNvSpPr txBox="1"/>
          <p:nvPr/>
        </p:nvSpPr>
        <p:spPr>
          <a:xfrm>
            <a:off x="457200" y="1097280"/>
            <a:ext cx="11247120" cy="5486400"/>
          </a:xfrm>
          <a:prstGeom prst="rect">
            <a:avLst/>
          </a:prstGeom>
          <a:noFill/>
        </p:spPr>
        <p:txBody>
          <a:bodyPr wrap="square">
            <a:spAutoFit/>
          </a:bodyPr>
          <a:lstStyle/>
          <a:p>
            <a:pPr algn="l"/>
            <a:r>
              <a:rPr sz="1500">
                <a:solidFill>
                  <a:srgbClr val="000000"/>
                </a:solidFill>
              </a:rPr>
              <a:t>1. Transfer learning from ImageNet weights greatly improved classification performance on the PlantVillage dataset.</a:t>
            </a:r>
          </a:p>
          <a:p>
            <a:pPr algn="l"/>
            <a:r>
              <a:rPr sz="1500">
                <a:solidFill>
                  <a:srgbClr val="000000"/>
                </a:solidFill>
              </a:rPr>
              <a:t>2. Weighted random sampling effectively balanced class representation and reduced prediction bias toward majority classes.</a:t>
            </a:r>
          </a:p>
          <a:p>
            <a:pPr algn="l"/>
            <a:r>
              <a:rPr sz="1500">
                <a:solidFill>
                  <a:srgbClr val="000000"/>
                </a:solidFill>
              </a:rPr>
              <a:t>3. The three-phase training strategy prevented catastrophic forgetting and improved final accuracy.</a:t>
            </a:r>
          </a:p>
          <a:p>
            <a:pPr algn="l"/>
            <a:r>
              <a:rPr sz="1500">
                <a:solidFill>
                  <a:srgbClr val="000000"/>
                </a:solidFill>
              </a:rPr>
              <a:t>4. Advanced data augmentation (flipping, rotation, colour jitter, perspective, erasing) gave strong real-world generalisation.</a:t>
            </a:r>
          </a:p>
          <a:p>
            <a:pPr algn="l"/>
            <a:r>
              <a:rPr sz="1500">
                <a:solidFill>
                  <a:srgbClr val="000000"/>
                </a:solidFill>
              </a:rPr>
              <a:t>5. The three-layer not-a-leaf detection mechanism achieves ~95%+ rejection rate on random non-leaf inputs.</a:t>
            </a:r>
          </a:p>
          <a:p>
            <a:pPr algn="l"/>
            <a:r>
              <a:rPr sz="1500">
                <a:solidFill>
                  <a:srgbClr val="000000"/>
                </a:solidFill>
              </a:rPr>
              <a:t>6. Minimal overfitting was observed — training and validation accuracy curves closely tracked each other.</a:t>
            </a:r>
          </a:p>
          <a:p>
            <a:pPr algn="l"/>
            <a:r>
              <a:rPr sz="1500">
                <a:solidFill>
                  <a:srgbClr val="000000"/>
                </a:solidFill>
              </a:rPr>
              <a:t>7. EfficientNetB3 strikes the best balance: 81.6% ImageNet accuracy, only 12M parameters, medium inference speed.</a:t>
            </a:r>
          </a:p>
          <a:p>
            <a:pPr algn="l"/>
            <a:r>
              <a:rPr sz="1500">
                <a:solidFill>
                  <a:srgbClr val="000000"/>
                </a:solidFill>
              </a:rPr>
              <a:t>8. The Flask-based full-stack deployment enables real-time prediction (20–50 ms on GPU) through a web interface.</a:t>
            </a:r>
          </a:p>
          <a:p>
            <a:pPr algn="l"/>
            <a:r>
              <a:rPr sz="1500">
                <a:solidFill>
                  <a:srgbClr val="000000"/>
                </a:solidFill>
              </a:rPr>
              <a:t>9. Label smoothing (ε=0.1) produced better-calibrated confidence scores — the model avoids overconfidence.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 y="91440"/>
            <a:ext cx="11795760" cy="822960"/>
          </a:xfrm>
          <a:prstGeom prst="rect">
            <a:avLst/>
          </a:prstGeom>
          <a:noFill/>
        </p:spPr>
        <p:txBody>
          <a:bodyPr wrap="square">
            <a:spAutoFit/>
          </a:bodyPr>
          <a:lstStyle/>
          <a:p>
            <a:pPr algn="ctr"/>
            <a:r>
              <a:rPr sz="2800" b="1">
                <a:solidFill>
                  <a:srgbClr val="000000"/>
                </a:solidFill>
              </a:rPr>
              <a:t>LIMITATIONS</a:t>
            </a:r>
          </a:p>
        </p:txBody>
      </p:sp>
      <p:sp>
        <p:nvSpPr>
          <p:cNvPr id="4" name="TextBox 3"/>
          <p:cNvSpPr txBox="1"/>
          <p:nvPr/>
        </p:nvSpPr>
        <p:spPr>
          <a:xfrm>
            <a:off x="457200" y="1097280"/>
            <a:ext cx="11247120" cy="5486400"/>
          </a:xfrm>
          <a:prstGeom prst="rect">
            <a:avLst/>
          </a:prstGeom>
          <a:noFill/>
        </p:spPr>
        <p:txBody>
          <a:bodyPr wrap="square">
            <a:spAutoFit/>
          </a:bodyPr>
          <a:lstStyle/>
          <a:p>
            <a:pPr algn="l"/>
            <a:r>
              <a:rPr sz="1500">
                <a:solidFill>
                  <a:srgbClr val="000000"/>
                </a:solidFill>
              </a:rPr>
              <a:t>1. Crops Not in PlantVillage — Mango, banana, papaya, rice, wheat, and sugarcane are absent from the training dataset. These will be misclassified or rejected.</a:t>
            </a:r>
          </a:p>
          <a:p>
            <a:pPr algn="l"/>
            <a:r>
              <a:rPr sz="1500">
                <a:solidFill>
                  <a:srgbClr val="000000"/>
                </a:solidFill>
              </a:rPr>
              <a:t>2. Visually Similar Diseases — Some diseases look nearly identical (e.g., Early vs. Late Blight on Tomato). The model may confuse them at lower confidence.</a:t>
            </a:r>
          </a:p>
          <a:p>
            <a:pPr algn="l"/>
            <a:r>
              <a:rPr sz="1500">
                <a:solidFill>
                  <a:srgbClr val="000000"/>
                </a:solidFill>
              </a:rPr>
              <a:t>3. Image Quality Sensitivity — Very blurry, dark, or tiny-leaf-in-frame photos receive low confidence and are rejected by Layer 3, even if valid.</a:t>
            </a:r>
          </a:p>
          <a:p>
            <a:pPr algn="l"/>
            <a:r>
              <a:rPr sz="1500">
                <a:solidFill>
                  <a:srgbClr val="000000"/>
                </a:solidFill>
              </a:rPr>
              <a:t>4. Crop-Specific Healthy Classes — 'Healthy' is crop-specific. The model says 'Tomato — healthy', not just 'healthy'. Users must interpret crop labels correctly.</a:t>
            </a:r>
          </a:p>
          <a:p>
            <a:pPr algn="l"/>
            <a:r>
              <a:rPr sz="1500">
                <a:solidFill>
                  <a:srgbClr val="000000"/>
                </a:solidFill>
              </a:rPr>
              <a:t>5. Controlled Dataset Bias — PlantVillage images have plain backgrounds and consistent lighting; real farm photos may have complex backgrounds and variable lighting.</a:t>
            </a:r>
          </a:p>
          <a:p>
            <a:pPr algn="l"/>
            <a:r>
              <a:rPr sz="1500">
                <a:solidFill>
                  <a:srgbClr val="000000"/>
                </a:solidFill>
              </a:rPr>
              <a:t>6. No Explainability — The model does not highlight which part of the leaf triggered the diagnosis (no Grad-CAM or similar).</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 y="91440"/>
            <a:ext cx="11795760" cy="822960"/>
          </a:xfrm>
          <a:prstGeom prst="rect">
            <a:avLst/>
          </a:prstGeom>
          <a:noFill/>
        </p:spPr>
        <p:txBody>
          <a:bodyPr wrap="square">
            <a:spAutoFit/>
          </a:bodyPr>
          <a:lstStyle/>
          <a:p>
            <a:pPr algn="ctr"/>
            <a:r>
              <a:rPr sz="2800" b="1">
                <a:solidFill>
                  <a:srgbClr val="000000"/>
                </a:solidFill>
              </a:rPr>
              <a:t>FUTURE WORK</a:t>
            </a:r>
          </a:p>
        </p:txBody>
      </p:sp>
      <p:sp>
        <p:nvSpPr>
          <p:cNvPr id="4" name="TextBox 3"/>
          <p:cNvSpPr txBox="1"/>
          <p:nvPr/>
        </p:nvSpPr>
        <p:spPr>
          <a:xfrm>
            <a:off x="457200" y="1097280"/>
            <a:ext cx="11247120" cy="5486400"/>
          </a:xfrm>
          <a:prstGeom prst="rect">
            <a:avLst/>
          </a:prstGeom>
          <a:noFill/>
        </p:spPr>
        <p:txBody>
          <a:bodyPr wrap="square">
            <a:spAutoFit/>
          </a:bodyPr>
          <a:lstStyle/>
          <a:p>
            <a:pPr algn="l"/>
            <a:r>
              <a:rPr sz="1500">
                <a:solidFill>
                  <a:srgbClr val="000000"/>
                </a:solidFill>
              </a:rPr>
              <a:t>1. Expand Dataset — Add mango, banana, rice, wheat, and sugarcane disease images from publicly available sources and field photography.</a:t>
            </a:r>
          </a:p>
          <a:p>
            <a:pPr algn="l"/>
            <a:r>
              <a:rPr sz="1500">
                <a:solidFill>
                  <a:srgbClr val="000000"/>
                </a:solidFill>
              </a:rPr>
              <a:t>2. Improve Not-a-Leaf Rejection — Replace 1,500 synthetic images with real photos of non-plants (soil, hands, walls, animals) for better robustness.</a:t>
            </a:r>
          </a:p>
          <a:p>
            <a:pPr algn="l"/>
            <a:r>
              <a:rPr sz="1500">
                <a:solidFill>
                  <a:srgbClr val="000000"/>
                </a:solidFill>
              </a:rPr>
              <a:t>3. Mobile Application — Deploy LeafScan as an Android/iOS app for offline, on-device inference using PyTorch Mobile or TFLite.</a:t>
            </a:r>
          </a:p>
          <a:p>
            <a:pPr algn="l"/>
            <a:r>
              <a:rPr sz="1500">
                <a:solidFill>
                  <a:srgbClr val="000000"/>
                </a:solidFill>
              </a:rPr>
              <a:t>4. Explainability — Integrate Grad-CAM or LIME to visually highlight the leaf region responsible for the disease prediction.</a:t>
            </a:r>
          </a:p>
          <a:p>
            <a:pPr algn="l"/>
            <a:r>
              <a:rPr sz="1500">
                <a:solidFill>
                  <a:srgbClr val="000000"/>
                </a:solidFill>
              </a:rPr>
              <a:t>5. IoT Integration — Connect with field sensors and drones for real-time crop monitoring and automated alerts.</a:t>
            </a:r>
          </a:p>
          <a:p>
            <a:pPr algn="l"/>
            <a:r>
              <a:rPr sz="1500">
                <a:solidFill>
                  <a:srgbClr val="000000"/>
                </a:solidFill>
              </a:rPr>
              <a:t>6. Production Deployment — Replace Flask development server with Gunicorn (multi-worker) + Nginx reverse proxy + Docker container.</a:t>
            </a:r>
          </a:p>
          <a:p>
            <a:pPr algn="l"/>
            <a:r>
              <a:rPr sz="1500">
                <a:solidFill>
                  <a:srgbClr val="000000"/>
                </a:solidFill>
              </a:rPr>
              <a:t>7. Continual Learning — Implement an active-learning pipeline so the model improves as users submit new images.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 y="91440"/>
            <a:ext cx="11795760" cy="822960"/>
          </a:xfrm>
          <a:prstGeom prst="rect">
            <a:avLst/>
          </a:prstGeom>
          <a:noFill/>
        </p:spPr>
        <p:txBody>
          <a:bodyPr wrap="square">
            <a:spAutoFit/>
          </a:bodyPr>
          <a:lstStyle/>
          <a:p>
            <a:pPr algn="ctr"/>
            <a:r>
              <a:rPr sz="2800" b="1">
                <a:solidFill>
                  <a:srgbClr val="000000"/>
                </a:solidFill>
              </a:rPr>
              <a:t>CONCLUSION</a:t>
            </a:r>
          </a:p>
        </p:txBody>
      </p:sp>
      <p:sp>
        <p:nvSpPr>
          <p:cNvPr id="4" name="TextBox 3"/>
          <p:cNvSpPr txBox="1"/>
          <p:nvPr/>
        </p:nvSpPr>
        <p:spPr>
          <a:xfrm>
            <a:off x="457200" y="1097280"/>
            <a:ext cx="11247120" cy="5486400"/>
          </a:xfrm>
          <a:prstGeom prst="rect">
            <a:avLst/>
          </a:prstGeom>
          <a:noFill/>
        </p:spPr>
        <p:txBody>
          <a:bodyPr wrap="square">
            <a:spAutoFit/>
          </a:bodyPr>
          <a:lstStyle/>
          <a:p>
            <a:r>
              <a:rPr sz="1600">
                <a:solidFill>
                  <a:srgbClr val="000000"/>
                </a:solidFill>
              </a:rPr>
              <a:t>LeafScan is a deep learning system that uses the EfficientNetB3 architecture to automatically detect plant leaf diseases from photographs. The system achieves approximately 94–96% test accuracy and successfully generalises to real-world, unseen images.
Key contributions:
  • Three-phase transfer learning strategy ensures convergence without catastrophic forgetting
  • Advanced data augmentation pipeline significantly improves real-world robustness
  • Weighted random sampling resolves class imbalance in PlantVillage
  • Three-layer not-a-leaf detection mechanism rejects ~95%+ of invalid inputs
  • Flask + Web deployment enables real-time predictions (20–50 ms on GPU)
The proposed approach demonstrates that deep learning can provide scalable, accurate, and practical solutions for agricultural disease management. With an expanded dataset and additional deployment features, LeafScan can be extended to support a wider range of crops and real-world field conditions, making it a valuable tool for precision agriculture.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 y="91440"/>
            <a:ext cx="11795760" cy="822960"/>
          </a:xfrm>
          <a:prstGeom prst="rect">
            <a:avLst/>
          </a:prstGeom>
          <a:noFill/>
        </p:spPr>
        <p:txBody>
          <a:bodyPr wrap="square">
            <a:spAutoFit/>
          </a:bodyPr>
          <a:lstStyle/>
          <a:p>
            <a:pPr algn="ctr"/>
            <a:r>
              <a:rPr sz="2800" b="1">
                <a:solidFill>
                  <a:srgbClr val="000000"/>
                </a:solidFill>
              </a:rPr>
              <a:t>REFERENCES</a:t>
            </a:r>
          </a:p>
        </p:txBody>
      </p:sp>
      <p:sp>
        <p:nvSpPr>
          <p:cNvPr id="4" name="TextBox 3"/>
          <p:cNvSpPr txBox="1"/>
          <p:nvPr/>
        </p:nvSpPr>
        <p:spPr>
          <a:xfrm>
            <a:off x="457200" y="1097280"/>
            <a:ext cx="11247120" cy="5486400"/>
          </a:xfrm>
          <a:prstGeom prst="rect">
            <a:avLst/>
          </a:prstGeom>
          <a:noFill/>
        </p:spPr>
        <p:txBody>
          <a:bodyPr wrap="square">
            <a:spAutoFit/>
          </a:bodyPr>
          <a:lstStyle/>
          <a:p>
            <a:pPr algn="l"/>
            <a:r>
              <a:rPr sz="1400">
                <a:solidFill>
                  <a:srgbClr val="000000"/>
                </a:solidFill>
              </a:rPr>
              <a:t>[1] D. P. Hughes and M. Salathé, 'An open access repository of images on plant health to enable the development of mobile disease diagnostics,' arXiv:1511.08060, 2015.</a:t>
            </a:r>
          </a:p>
          <a:p>
            <a:pPr algn="l"/>
            <a:r>
              <a:rPr sz="1400">
                <a:solidFill>
                  <a:srgbClr val="000000"/>
                </a:solidFill>
              </a:rPr>
              <a:t>[2] M. Tan and Q. Le, 'EfficientNet: Rethinking model scaling for convolutional neural networks,' ICML, 2019, pp. 6105–6114.</a:t>
            </a:r>
          </a:p>
          <a:p>
            <a:pPr algn="l"/>
            <a:r>
              <a:rPr sz="1400">
                <a:solidFill>
                  <a:srgbClr val="000000"/>
                </a:solidFill>
              </a:rPr>
              <a:t>[3] K. Simonyan and A. Zisserman, 'Very deep convolutional networks for large-scale image recognition,' arXiv:1409.1556, 2014.</a:t>
            </a:r>
          </a:p>
          <a:p>
            <a:pPr algn="l"/>
            <a:r>
              <a:rPr sz="1400">
                <a:solidFill>
                  <a:srgbClr val="000000"/>
                </a:solidFill>
              </a:rPr>
              <a:t>[4] K. He, X. Zhang, S. Ren, and J. Sun, 'Deep residual learning for image recognition,' CVPR, 2016, pp. 770–778.</a:t>
            </a:r>
          </a:p>
          <a:p>
            <a:pPr algn="l"/>
            <a:r>
              <a:rPr sz="1400">
                <a:solidFill>
                  <a:srgbClr val="000000"/>
                </a:solidFill>
              </a:rPr>
              <a:t>[5] A. Krizhevsky, I. Sutskever, and G. Hinton, 'ImageNet classification with deep CNNs,' NeurIPS, 2012, pp. 1097–1105.</a:t>
            </a:r>
          </a:p>
          <a:p>
            <a:pPr algn="l"/>
            <a:r>
              <a:rPr sz="1400">
                <a:solidFill>
                  <a:srgbClr val="000000"/>
                </a:solidFill>
              </a:rPr>
              <a:t>[6] A. Howard et al., 'MobileNets: Efficient CNNs for mobile vision applications,' arXiv:1704.04861, 2017.</a:t>
            </a:r>
          </a:p>
          <a:p>
            <a:pPr algn="l"/>
            <a:r>
              <a:rPr sz="1400">
                <a:solidFill>
                  <a:srgbClr val="000000"/>
                </a:solidFill>
              </a:rPr>
              <a:t>[7] F. Chollet, 'Xception: Deep learning with depthwise separable convolutions,' CVPR, 2017.</a:t>
            </a:r>
          </a:p>
          <a:p>
            <a:pPr algn="l"/>
            <a:r>
              <a:rPr sz="1400">
                <a:solidFill>
                  <a:srgbClr val="000000"/>
                </a:solidFill>
              </a:rPr>
              <a:t>[8] J. Brownlee, 'A gentle introduction to transfer learning for deep learning,' Machine Learning Mastery, 2019.</a:t>
            </a:r>
          </a:p>
          <a:p>
            <a:pPr algn="l"/>
            <a:r>
              <a:rPr sz="1400">
                <a:solidFill>
                  <a:srgbClr val="000000"/>
                </a:solidFill>
              </a:rPr>
              <a:t>[9] PyTorch Documentation, 'PyTorch: An open source deep learning framework,' https://pytorch.org</a:t>
            </a:r>
          </a:p>
          <a:p>
            <a:pPr algn="l"/>
            <a:r>
              <a:rPr sz="1400">
                <a:solidFill>
                  <a:srgbClr val="000000"/>
                </a:solidFill>
              </a:rPr>
              <a:t>[10] Kaggle, 'PlantVillage Dataset,' https://www.kaggle.com/datasets/emmarex/plantdisease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0"/>
            <a:ext cx="11247120" cy="1371600"/>
          </a:xfrm>
          <a:prstGeom prst="rect">
            <a:avLst/>
          </a:prstGeom>
          <a:noFill/>
        </p:spPr>
        <p:txBody>
          <a:bodyPr wrap="square">
            <a:spAutoFit/>
          </a:bodyPr>
          <a:lstStyle/>
          <a:p>
            <a:pPr algn="ctr"/>
            <a:r>
              <a:rPr sz="5400" b="1">
                <a:solidFill>
                  <a:srgbClr val="000000"/>
                </a:solidFill>
              </a:rPr>
              <a:t>THANK YOU</a:t>
            </a:r>
          </a:p>
        </p:txBody>
      </p:sp>
      <p:sp>
        <p:nvSpPr>
          <p:cNvPr id="3" name="TextBox 2"/>
          <p:cNvSpPr txBox="1"/>
          <p:nvPr/>
        </p:nvSpPr>
        <p:spPr>
          <a:xfrm>
            <a:off x="457200" y="3840480"/>
            <a:ext cx="11247120" cy="548640"/>
          </a:xfrm>
          <a:prstGeom prst="rect">
            <a:avLst/>
          </a:prstGeom>
          <a:noFill/>
        </p:spPr>
        <p:txBody>
          <a:bodyPr wrap="square">
            <a:spAutoFit/>
          </a:bodyPr>
          <a:lstStyle/>
          <a:p>
            <a:pPr algn="ctr"/>
            <a:r>
              <a:rPr sz="2200" b="0">
                <a:solidFill>
                  <a:srgbClr val="000000"/>
                </a:solidFill>
              </a:rPr>
              <a:t>LeafScan — AI-Powered Plant Leaf Disease Detection</a:t>
            </a:r>
          </a:p>
        </p:txBody>
      </p:sp>
      <p:sp>
        <p:nvSpPr>
          <p:cNvPr id="4" name="TextBox 3"/>
          <p:cNvSpPr txBox="1"/>
          <p:nvPr/>
        </p:nvSpPr>
        <p:spPr>
          <a:xfrm>
            <a:off x="457200" y="4572000"/>
            <a:ext cx="11247120" cy="411480"/>
          </a:xfrm>
          <a:prstGeom prst="rect">
            <a:avLst/>
          </a:prstGeom>
          <a:noFill/>
        </p:spPr>
        <p:txBody>
          <a:bodyPr wrap="square">
            <a:spAutoFit/>
          </a:bodyPr>
          <a:lstStyle/>
          <a:p>
            <a:pPr algn="ctr"/>
            <a:r>
              <a:rPr sz="1600" b="0">
                <a:solidFill>
                  <a:srgbClr val="000000"/>
                </a:solidFill>
              </a:rPr>
              <a:t>JAIN (Deemed-to-be-University)  |  Department of CSE (AI &amp; ML)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